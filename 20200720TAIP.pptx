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3"/>
  </p:notesMasterIdLst>
  <p:sldIdLst>
    <p:sldId id="270" r:id="rId2"/>
    <p:sldId id="272" r:id="rId3"/>
    <p:sldId id="275" r:id="rId4"/>
    <p:sldId id="266" r:id="rId5"/>
    <p:sldId id="277" r:id="rId6"/>
    <p:sldId id="278" r:id="rId7"/>
    <p:sldId id="279" r:id="rId8"/>
    <p:sldId id="280" r:id="rId9"/>
    <p:sldId id="269" r:id="rId10"/>
    <p:sldId id="268" r:id="rId11"/>
    <p:sldId id="271" r:id="rId12"/>
  </p:sldIdLst>
  <p:sldSz cx="12179300" cy="9134475" type="ledger"/>
  <p:notesSz cx="6802438" cy="99345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77" userDrawn="1">
          <p15:clr>
            <a:srgbClr val="A4A3A4"/>
          </p15:clr>
        </p15:guide>
        <p15:guide id="2" pos="383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CCC00"/>
    <a:srgbClr val="FFCC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4859" autoAdjust="0"/>
    <p:restoredTop sz="94660"/>
  </p:normalViewPr>
  <p:slideViewPr>
    <p:cSldViewPr snapToGrid="0" showGuides="1">
      <p:cViewPr varScale="1">
        <p:scale>
          <a:sx n="58" d="100"/>
          <a:sy n="58" d="100"/>
        </p:scale>
        <p:origin x="1368" y="56"/>
      </p:cViewPr>
      <p:guideLst>
        <p:guide orient="horz" pos="2877"/>
        <p:guide pos="3836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8390" cy="498573"/>
          </a:xfrm>
          <a:prstGeom prst="rect">
            <a:avLst/>
          </a:prstGeom>
        </p:spPr>
        <p:txBody>
          <a:bodyPr vert="horz" lIns="83850" tIns="41925" rIns="83850" bIns="41925" rtlCol="0"/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2620" y="0"/>
            <a:ext cx="2948390" cy="498573"/>
          </a:xfrm>
          <a:prstGeom prst="rect">
            <a:avLst/>
          </a:prstGeom>
        </p:spPr>
        <p:txBody>
          <a:bodyPr vert="horz" lIns="83850" tIns="41925" rIns="83850" bIns="41925" rtlCol="0"/>
          <a:lstStyle>
            <a:lvl1pPr algn="r">
              <a:defRPr sz="1100"/>
            </a:lvl1pPr>
          </a:lstStyle>
          <a:p>
            <a:fld id="{5C81E865-D476-407D-918F-A08090ADF48D}" type="datetimeFigureOut">
              <a:rPr lang="en-US" smtClean="0"/>
              <a:t>7/20/2020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66813" y="1241425"/>
            <a:ext cx="4468812" cy="3352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83850" tIns="41925" rIns="83850" bIns="41925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958" y="4780692"/>
            <a:ext cx="5442522" cy="3911877"/>
          </a:xfrm>
          <a:prstGeom prst="rect">
            <a:avLst/>
          </a:prstGeom>
        </p:spPr>
        <p:txBody>
          <a:bodyPr vert="horz" lIns="83850" tIns="41925" rIns="83850" bIns="41925" rtlCol="0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36003"/>
            <a:ext cx="2948390" cy="498573"/>
          </a:xfrm>
          <a:prstGeom prst="rect">
            <a:avLst/>
          </a:prstGeom>
        </p:spPr>
        <p:txBody>
          <a:bodyPr vert="horz" lIns="83850" tIns="41925" rIns="83850" bIns="41925" rtlCol="0" anchor="b"/>
          <a:lstStyle>
            <a:lvl1pPr algn="l">
              <a:defRPr sz="11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2620" y="9436003"/>
            <a:ext cx="2948390" cy="498573"/>
          </a:xfrm>
          <a:prstGeom prst="rect">
            <a:avLst/>
          </a:prstGeom>
        </p:spPr>
        <p:txBody>
          <a:bodyPr vert="horz" lIns="83850" tIns="41925" rIns="83850" bIns="41925" rtlCol="0" anchor="b"/>
          <a:lstStyle>
            <a:lvl1pPr algn="r">
              <a:defRPr sz="1100"/>
            </a:lvl1pPr>
          </a:lstStyle>
          <a:p>
            <a:fld id="{604E9FF1-444C-4594-830D-3D6DE58BE56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543594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圖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3700B9F7-8B61-4920-9836-0A071E5CA9F9}" type="slidenum">
              <a:rPr lang="zh-TW" altLang="en-US" smtClean="0"/>
              <a:t>11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257116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608760" y="364320"/>
            <a:ext cx="10960560" cy="152496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endParaRPr lang="zh-CN" sz="23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608760" y="2137320"/>
            <a:ext cx="10960560" cy="529740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608760" y="364320"/>
            <a:ext cx="10960560" cy="152496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endParaRPr lang="zh-CN" sz="23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608760" y="2137320"/>
            <a:ext cx="10960560" cy="52974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zh-CN" sz="40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8760" y="364320"/>
            <a:ext cx="10960560" cy="152496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endParaRPr lang="zh-CN" sz="23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 type="body"/>
          </p:nvPr>
        </p:nvSpPr>
        <p:spPr>
          <a:xfrm>
            <a:off x="608760" y="2137320"/>
            <a:ext cx="5348520" cy="52974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zh-CN" sz="4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 type="body"/>
          </p:nvPr>
        </p:nvSpPr>
        <p:spPr>
          <a:xfrm>
            <a:off x="6225120" y="2137320"/>
            <a:ext cx="5348520" cy="52974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zh-CN" sz="40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608760" y="364320"/>
            <a:ext cx="10960560" cy="152496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endParaRPr lang="zh-CN" sz="23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608760" y="364320"/>
            <a:ext cx="10960560" cy="707004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pPr algn="ctr"/>
            <a:endParaRPr lang="en-US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608760" y="364320"/>
            <a:ext cx="10960560" cy="152496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endParaRPr lang="zh-CN" sz="23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608760" y="2137320"/>
            <a:ext cx="5348520" cy="252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zh-CN" sz="4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body"/>
          </p:nvPr>
        </p:nvSpPr>
        <p:spPr>
          <a:xfrm>
            <a:off x="6225120" y="2137320"/>
            <a:ext cx="5348520" cy="52974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zh-CN" sz="4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body"/>
          </p:nvPr>
        </p:nvSpPr>
        <p:spPr>
          <a:xfrm>
            <a:off x="608760" y="4904640"/>
            <a:ext cx="5348520" cy="252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zh-CN" sz="40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608760" y="364320"/>
            <a:ext cx="10960560" cy="152496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endParaRPr lang="zh-CN" sz="23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 type="body"/>
          </p:nvPr>
        </p:nvSpPr>
        <p:spPr>
          <a:xfrm>
            <a:off x="608760" y="2137320"/>
            <a:ext cx="5348520" cy="52974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zh-CN" sz="4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 type="body"/>
          </p:nvPr>
        </p:nvSpPr>
        <p:spPr>
          <a:xfrm>
            <a:off x="6225120" y="2137320"/>
            <a:ext cx="5348520" cy="252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zh-CN" sz="4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 type="body"/>
          </p:nvPr>
        </p:nvSpPr>
        <p:spPr>
          <a:xfrm>
            <a:off x="6225120" y="4904640"/>
            <a:ext cx="5348520" cy="252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zh-CN" sz="40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608760" y="364320"/>
            <a:ext cx="10960560" cy="152496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endParaRPr lang="zh-CN" sz="23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608760" y="2137320"/>
            <a:ext cx="5348520" cy="252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zh-CN" sz="4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 type="body"/>
          </p:nvPr>
        </p:nvSpPr>
        <p:spPr>
          <a:xfrm>
            <a:off x="6225120" y="2137320"/>
            <a:ext cx="5348520" cy="252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zh-CN" sz="4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 type="body"/>
          </p:nvPr>
        </p:nvSpPr>
        <p:spPr>
          <a:xfrm>
            <a:off x="608760" y="4904640"/>
            <a:ext cx="10960560" cy="252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zh-CN" sz="40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8760" y="364320"/>
            <a:ext cx="10960560" cy="152496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endParaRPr lang="zh-CN" sz="23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608760" y="2137320"/>
            <a:ext cx="10960560" cy="252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zh-CN" sz="4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608760" y="4904640"/>
            <a:ext cx="10960560" cy="252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zh-CN" sz="40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608760" y="364320"/>
            <a:ext cx="10960560" cy="152496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endParaRPr lang="zh-CN" sz="23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608760" y="2137320"/>
            <a:ext cx="5348520" cy="252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zh-CN" sz="4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6225120" y="2137320"/>
            <a:ext cx="5348520" cy="252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zh-CN" sz="4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608760" y="4904640"/>
            <a:ext cx="5348520" cy="252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zh-CN" sz="4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 type="body"/>
          </p:nvPr>
        </p:nvSpPr>
        <p:spPr>
          <a:xfrm>
            <a:off x="6225120" y="4904640"/>
            <a:ext cx="5348520" cy="252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zh-CN" sz="40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608760" y="364320"/>
            <a:ext cx="10960560" cy="1524960"/>
          </a:xfrm>
          <a:prstGeom prst="rect">
            <a:avLst/>
          </a:prstGeom>
        </p:spPr>
        <p:txBody>
          <a:bodyPr lIns="0" tIns="0" rIns="0" bIns="0" anchor="ctr">
            <a:spAutoFit/>
          </a:bodyPr>
          <a:lstStyle/>
          <a:p>
            <a:endParaRPr lang="zh-CN" sz="23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 type="body"/>
          </p:nvPr>
        </p:nvSpPr>
        <p:spPr>
          <a:xfrm>
            <a:off x="608760" y="2137320"/>
            <a:ext cx="3529080" cy="252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zh-CN" sz="4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 type="body"/>
          </p:nvPr>
        </p:nvSpPr>
        <p:spPr>
          <a:xfrm>
            <a:off x="4314600" y="2137320"/>
            <a:ext cx="3529080" cy="252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zh-CN" sz="4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 type="body"/>
          </p:nvPr>
        </p:nvSpPr>
        <p:spPr>
          <a:xfrm>
            <a:off x="8020440" y="2137320"/>
            <a:ext cx="3529080" cy="252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zh-CN" sz="4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 type="body"/>
          </p:nvPr>
        </p:nvSpPr>
        <p:spPr>
          <a:xfrm>
            <a:off x="608760" y="4904640"/>
            <a:ext cx="3529080" cy="252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zh-CN" sz="4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 type="body"/>
          </p:nvPr>
        </p:nvSpPr>
        <p:spPr>
          <a:xfrm>
            <a:off x="4314600" y="4904640"/>
            <a:ext cx="3529080" cy="252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zh-CN" sz="40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 type="body"/>
          </p:nvPr>
        </p:nvSpPr>
        <p:spPr>
          <a:xfrm>
            <a:off x="8020440" y="4904640"/>
            <a:ext cx="3529080" cy="252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zh-CN" sz="40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2413" y="1494925"/>
            <a:ext cx="9134475" cy="3180151"/>
          </a:xfrm>
        </p:spPr>
        <p:txBody>
          <a:bodyPr anchor="b"/>
          <a:lstStyle>
            <a:lvl1pPr algn="ctr">
              <a:defRPr sz="5994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2413" y="4797715"/>
            <a:ext cx="9134475" cy="2205383"/>
          </a:xfrm>
        </p:spPr>
        <p:txBody>
          <a:bodyPr/>
          <a:lstStyle>
            <a:lvl1pPr marL="0" indent="0" algn="ctr">
              <a:buNone/>
              <a:defRPr sz="2398"/>
            </a:lvl1pPr>
            <a:lvl2pPr marL="456743" indent="0" algn="ctr">
              <a:buNone/>
              <a:defRPr sz="1998"/>
            </a:lvl2pPr>
            <a:lvl3pPr marL="913486" indent="0" algn="ctr">
              <a:buNone/>
              <a:defRPr sz="1798"/>
            </a:lvl3pPr>
            <a:lvl4pPr marL="1370228" indent="0" algn="ctr">
              <a:buNone/>
              <a:defRPr sz="1598"/>
            </a:lvl4pPr>
            <a:lvl5pPr marL="1826971" indent="0" algn="ctr">
              <a:buNone/>
              <a:defRPr sz="1598"/>
            </a:lvl5pPr>
            <a:lvl6pPr marL="2283714" indent="0" algn="ctr">
              <a:buNone/>
              <a:defRPr sz="1598"/>
            </a:lvl6pPr>
            <a:lvl7pPr marL="2740457" indent="0" algn="ctr">
              <a:buNone/>
              <a:defRPr sz="1598"/>
            </a:lvl7pPr>
            <a:lvl8pPr marL="3197200" indent="0" algn="ctr">
              <a:buNone/>
              <a:defRPr sz="1598"/>
            </a:lvl8pPr>
            <a:lvl9pPr marL="3653942" indent="0" algn="ctr">
              <a:buNone/>
              <a:defRPr sz="1598"/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BC7F08-E6CB-46F9-8CAB-98F7455289C0}" type="datetimeFigureOut">
              <a:rPr lang="zh-TW" altLang="en-US" smtClean="0"/>
              <a:t>2020/7/20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F3CCC4-6825-4883-8E3E-7618F86EB9D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5980659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dt"/>
          </p:nvPr>
        </p:nvSpPr>
        <p:spPr>
          <a:xfrm>
            <a:off x="609120" y="8466480"/>
            <a:ext cx="2841480" cy="486000"/>
          </a:xfrm>
          <a:prstGeom prst="rect">
            <a:avLst/>
          </a:prstGeom>
        </p:spPr>
        <p:txBody>
          <a:bodyPr lIns="113400" tIns="56880" rIns="113400" bIns="56880" anchor="ctr">
            <a:noAutofit/>
          </a:bodyPr>
          <a:lstStyle/>
          <a:p>
            <a:pPr>
              <a:lnSpc>
                <a:spcPct val="100000"/>
              </a:lnSpc>
            </a:pPr>
            <a:fld id="{15EAC581-942C-4252-8085-3A23908C3D9F}" type="datetime">
              <a:rPr lang="en-US" sz="1500" b="0" strike="noStrike" spc="-1">
                <a:solidFill>
                  <a:srgbClr val="8B8B8B"/>
                </a:solidFill>
                <a:latin typeface="Calibri"/>
              </a:rPr>
              <a:t>7/20/2020</a:t>
            </a:fld>
            <a:endParaRPr lang="en-US" sz="1500" b="0" strike="noStrike" spc="-1">
              <a:latin typeface="Times New Roman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ftr"/>
          </p:nvPr>
        </p:nvSpPr>
        <p:spPr>
          <a:xfrm>
            <a:off x="4161240" y="8466480"/>
            <a:ext cx="3856320" cy="486000"/>
          </a:xfrm>
          <a:prstGeom prst="rect">
            <a:avLst/>
          </a:prstGeom>
        </p:spPr>
        <p:txBody>
          <a:bodyPr lIns="113400" tIns="56880" rIns="113400" bIns="56880" anchor="ctr">
            <a:noAutofit/>
          </a:bodyPr>
          <a:lstStyle/>
          <a:p>
            <a:endParaRPr lang="en-US" sz="2400" b="0" strike="noStrike" spc="-1">
              <a:latin typeface="Times New Roman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/>
          </p:nvPr>
        </p:nvSpPr>
        <p:spPr>
          <a:xfrm>
            <a:off x="8728560" y="8466480"/>
            <a:ext cx="2841480" cy="486000"/>
          </a:xfrm>
          <a:prstGeom prst="rect">
            <a:avLst/>
          </a:prstGeom>
        </p:spPr>
        <p:txBody>
          <a:bodyPr lIns="113400" tIns="56880" rIns="113400" bIns="56880" anchor="ctr">
            <a:noAutofit/>
          </a:bodyPr>
          <a:lstStyle/>
          <a:p>
            <a:pPr algn="r">
              <a:lnSpc>
                <a:spcPct val="100000"/>
              </a:lnSpc>
            </a:pPr>
            <a:fld id="{1EB32462-15C3-4700-A4AD-19839C114694}" type="slidenum">
              <a:rPr lang="en-US" sz="1500" b="0" strike="noStrike" spc="-1">
                <a:solidFill>
                  <a:srgbClr val="8B8B8B"/>
                </a:solidFill>
                <a:latin typeface="Calibri"/>
              </a:rPr>
              <a:t>‹#›</a:t>
            </a:fld>
            <a:endParaRPr lang="en-US" sz="1500" b="0" strike="noStrike" spc="-1">
              <a:latin typeface="Times New Roman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608760" y="364320"/>
            <a:ext cx="10960560" cy="152496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r>
              <a:rPr lang="zh-CN" sz="2300" b="0" strike="noStrike" spc="-1">
                <a:solidFill>
                  <a:srgbClr val="000000"/>
                </a:solidFill>
                <a:latin typeface="Calibri"/>
              </a:rPr>
              <a:t>請按這裡編輯題名文字格式</a:t>
            </a: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608760" y="2137320"/>
            <a:ext cx="10960560" cy="529740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4000" b="0" strike="noStrike" spc="-1">
                <a:solidFill>
                  <a:srgbClr val="000000"/>
                </a:solidFill>
                <a:latin typeface="Calibri"/>
              </a:rPr>
              <a:t>請按這裡編輯大綱文字格式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zh-CN" sz="3100" b="0" strike="noStrike" spc="-1">
                <a:solidFill>
                  <a:srgbClr val="000000"/>
                </a:solidFill>
                <a:latin typeface="Calibri"/>
              </a:rPr>
              <a:t>第二個大綱層次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2500" b="0" strike="noStrike" spc="-1">
                <a:solidFill>
                  <a:srgbClr val="000000"/>
                </a:solidFill>
                <a:latin typeface="Calibri"/>
              </a:rPr>
              <a:t>第三個大綱層次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zh-CN" sz="2500" b="0" strike="noStrike" spc="-1">
                <a:solidFill>
                  <a:srgbClr val="000000"/>
                </a:solidFill>
                <a:latin typeface="Calibri"/>
              </a:rPr>
              <a:t>第四個大綱層次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2000" b="0" strike="noStrike" spc="-1">
                <a:solidFill>
                  <a:srgbClr val="000000"/>
                </a:solidFill>
                <a:latin typeface="Calibri"/>
              </a:rPr>
              <a:t>第五個大綱層次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2000" b="0" strike="noStrike" spc="-1">
                <a:solidFill>
                  <a:srgbClr val="000000"/>
                </a:solidFill>
                <a:latin typeface="Calibri"/>
              </a:rPr>
              <a:t>第六個大綱層次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zh-CN" sz="2000" b="0" strike="noStrike" spc="-1">
                <a:solidFill>
                  <a:srgbClr val="000000"/>
                </a:solidFill>
                <a:latin typeface="Calibri"/>
              </a:rPr>
              <a:t>第七個大綱層次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1.emf"/><Relationship Id="rId4" Type="http://schemas.openxmlformats.org/officeDocument/2006/relationships/image" Target="../media/image10.em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4.emf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45260" y="4143701"/>
            <a:ext cx="11240340" cy="443198"/>
          </a:xfrm>
        </p:spPr>
        <p:txBody>
          <a:bodyPr/>
          <a:lstStyle/>
          <a:p>
            <a:r>
              <a:rPr lang="en-US" sz="3200" dirty="0" smtClean="0"/>
              <a:t>A self-replenishing </a:t>
            </a:r>
            <a:r>
              <a:rPr lang="en-US" sz="3200" dirty="0"/>
              <a:t>and </a:t>
            </a:r>
            <a:r>
              <a:rPr lang="en-US" sz="3200" dirty="0" smtClean="0"/>
              <a:t>optically-regulated CO</a:t>
            </a:r>
            <a:r>
              <a:rPr lang="en-US" sz="3200" baseline="-25000" dirty="0" smtClean="0"/>
              <a:t>2</a:t>
            </a:r>
            <a:r>
              <a:rPr lang="en-US" sz="3200" dirty="0" smtClean="0"/>
              <a:t> fixation system</a:t>
            </a: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7700386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3552" y="3547324"/>
            <a:ext cx="9775350" cy="4759394"/>
          </a:xfrm>
          <a:prstGeom prst="rect">
            <a:avLst/>
          </a:prstGeom>
        </p:spPr>
      </p:pic>
      <p:pic>
        <p:nvPicPr>
          <p:cNvPr id="6" name="圖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2249" y="408852"/>
            <a:ext cx="7733960" cy="23278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38261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2"/>
          <a:srcRect r="8644"/>
          <a:stretch/>
        </p:blipFill>
        <p:spPr>
          <a:xfrm>
            <a:off x="82035" y="1397036"/>
            <a:ext cx="12109622" cy="7725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65834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 rotWithShape="1">
          <a:blip r:embed="rId2"/>
          <a:srcRect b="13575"/>
          <a:stretch/>
        </p:blipFill>
        <p:spPr>
          <a:xfrm>
            <a:off x="-625376" y="1177831"/>
            <a:ext cx="12804676" cy="79566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27133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內容版面配置區 3"/>
          <p:cNvPicPr>
            <a:picLocks noGrp="1" noChangeAspect="1"/>
          </p:cNvPicPr>
          <p:nvPr>
            <p:ph idx="4294967295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087" b="51008"/>
          <a:stretch/>
        </p:blipFill>
        <p:spPr>
          <a:xfrm>
            <a:off x="3702954" y="2911571"/>
            <a:ext cx="8685626" cy="2129581"/>
          </a:xfrm>
          <a:prstGeom prst="rect">
            <a:avLst/>
          </a:prstGeom>
        </p:spPr>
      </p:pic>
      <p:grpSp>
        <p:nvGrpSpPr>
          <p:cNvPr id="3" name="群組 2"/>
          <p:cNvGrpSpPr/>
          <p:nvPr/>
        </p:nvGrpSpPr>
        <p:grpSpPr>
          <a:xfrm>
            <a:off x="445760" y="2509882"/>
            <a:ext cx="3792798" cy="3980819"/>
            <a:chOff x="8673291" y="2018630"/>
            <a:chExt cx="3796753" cy="3984970"/>
          </a:xfrm>
        </p:grpSpPr>
        <p:grpSp>
          <p:nvGrpSpPr>
            <p:cNvPr id="13" name="群組 12"/>
            <p:cNvGrpSpPr/>
            <p:nvPr/>
          </p:nvGrpSpPr>
          <p:grpSpPr>
            <a:xfrm>
              <a:off x="8673291" y="2018630"/>
              <a:ext cx="3796753" cy="2605355"/>
              <a:chOff x="7517043" y="3074727"/>
              <a:chExt cx="5114466" cy="3348417"/>
            </a:xfrm>
          </p:grpSpPr>
          <p:sp>
            <p:nvSpPr>
              <p:cNvPr id="14" name="TextBox 23"/>
              <p:cNvSpPr txBox="1"/>
              <p:nvPr/>
            </p:nvSpPr>
            <p:spPr>
              <a:xfrm>
                <a:off x="10989959" y="3771271"/>
                <a:ext cx="1641550" cy="45447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>
                <a:defPPr>
                  <a:defRPr lang="en-US"/>
                </a:defPPr>
                <a:lvl1pPr marL="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457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914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371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18288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algn="l" defTabSz="914400" rtl="0" eaLnBrk="1" latinLnBrk="0" hangingPunct="1"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r>
                  <a:rPr lang="en-US" sz="1698" dirty="0">
                    <a:latin typeface="Arial" panose="020B0604020202020204" pitchFamily="34" charset="0"/>
                    <a:cs typeface="Arial" panose="020B0604020202020204" pitchFamily="34" charset="0"/>
                  </a:rPr>
                  <a:t>NADPH</a:t>
                </a:r>
                <a:endParaRPr lang="en-US" sz="1698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15" name="群組 14"/>
              <p:cNvGrpSpPr/>
              <p:nvPr/>
            </p:nvGrpSpPr>
            <p:grpSpPr>
              <a:xfrm>
                <a:off x="7517043" y="3074727"/>
                <a:ext cx="4102764" cy="3348417"/>
                <a:chOff x="7710808" y="1701115"/>
                <a:chExt cx="4102764" cy="3348417"/>
              </a:xfrm>
            </p:grpSpPr>
            <p:sp>
              <p:nvSpPr>
                <p:cNvPr id="16" name="Arc 34"/>
                <p:cNvSpPr/>
                <p:nvPr/>
              </p:nvSpPr>
              <p:spPr>
                <a:xfrm rot="2051979">
                  <a:off x="7710808" y="4270498"/>
                  <a:ext cx="603890" cy="446860"/>
                </a:xfrm>
                <a:prstGeom prst="arc">
                  <a:avLst>
                    <a:gd name="adj1" fmla="val 11495871"/>
                    <a:gd name="adj2" fmla="val 323015"/>
                  </a:avLst>
                </a:prstGeom>
                <a:ln w="12700">
                  <a:solidFill>
                    <a:schemeClr val="tx1"/>
                  </a:solidFill>
                  <a:headEnd type="triangle"/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>
                  <a:defPPr>
                    <a:defRPr lang="en-US"/>
                  </a:defPPr>
                  <a:lvl1pPr marL="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1pPr>
                  <a:lvl2pPr marL="457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2pPr>
                  <a:lvl3pPr marL="914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3pPr>
                  <a:lvl4pPr marL="1371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4pPr>
                  <a:lvl5pPr marL="18288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5pPr>
                  <a:lvl6pPr marL="22860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6pPr>
                  <a:lvl7pPr marL="27432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7pPr>
                  <a:lvl8pPr marL="32004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8pPr>
                  <a:lvl9pPr marL="3657600" algn="l" defTabSz="914400" rtl="0" eaLnBrk="1" latinLnBrk="0" hangingPunct="1">
                    <a:defRPr sz="1800" kern="1200">
                      <a:solidFill>
                        <a:schemeClr val="tx1"/>
                      </a:solidFill>
                      <a:latin typeface="+mn-lt"/>
                      <a:ea typeface="+mn-ea"/>
                      <a:cs typeface="+mn-cs"/>
                    </a:defRPr>
                  </a:lvl9pPr>
                </a:lstStyle>
                <a:p>
                  <a:pPr algn="ctr"/>
                  <a:endParaRPr lang="en-US" sz="1798"/>
                </a:p>
              </p:txBody>
            </p:sp>
            <p:grpSp>
              <p:nvGrpSpPr>
                <p:cNvPr id="17" name="群組 16"/>
                <p:cNvGrpSpPr/>
                <p:nvPr/>
              </p:nvGrpSpPr>
              <p:grpSpPr>
                <a:xfrm>
                  <a:off x="7779928" y="1701115"/>
                  <a:ext cx="4033644" cy="3348417"/>
                  <a:chOff x="7779928" y="1701115"/>
                  <a:chExt cx="4033644" cy="3348417"/>
                </a:xfrm>
              </p:grpSpPr>
              <p:sp>
                <p:nvSpPr>
                  <p:cNvPr id="18" name="TextBox 23"/>
                  <p:cNvSpPr txBox="1"/>
                  <p:nvPr/>
                </p:nvSpPr>
                <p:spPr>
                  <a:xfrm>
                    <a:off x="9765605" y="2162769"/>
                    <a:ext cx="1641550" cy="790288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r>
                      <a:rPr lang="en-US" sz="1698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Crotonyl-CoA</a:t>
                    </a:r>
                  </a:p>
                </p:txBody>
              </p:sp>
              <p:sp>
                <p:nvSpPr>
                  <p:cNvPr id="19" name="Arc 16"/>
                  <p:cNvSpPr/>
                  <p:nvPr/>
                </p:nvSpPr>
                <p:spPr>
                  <a:xfrm>
                    <a:off x="8898185" y="1734409"/>
                    <a:ext cx="2074127" cy="1959172"/>
                  </a:xfrm>
                  <a:prstGeom prst="arc">
                    <a:avLst>
                      <a:gd name="adj1" fmla="val 20941187"/>
                      <a:gd name="adj2" fmla="val 1035633"/>
                    </a:avLst>
                  </a:prstGeom>
                  <a:ln w="15875">
                    <a:solidFill>
                      <a:schemeClr val="tx1"/>
                    </a:solidFill>
                    <a:headEnd type="none"/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en-US" sz="1798"/>
                  </a:p>
                </p:txBody>
              </p:sp>
              <p:sp>
                <p:nvSpPr>
                  <p:cNvPr id="20" name="Arc 17"/>
                  <p:cNvSpPr/>
                  <p:nvPr/>
                </p:nvSpPr>
                <p:spPr>
                  <a:xfrm>
                    <a:off x="8898184" y="1734409"/>
                    <a:ext cx="2074127" cy="1959172"/>
                  </a:xfrm>
                  <a:prstGeom prst="arc">
                    <a:avLst>
                      <a:gd name="adj1" fmla="val 1091285"/>
                      <a:gd name="adj2" fmla="val 2026356"/>
                    </a:avLst>
                  </a:prstGeom>
                  <a:ln w="15875">
                    <a:solidFill>
                      <a:schemeClr val="tx1"/>
                    </a:solidFill>
                    <a:headEnd type="none"/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en-US" sz="1798"/>
                  </a:p>
                </p:txBody>
              </p:sp>
              <p:sp>
                <p:nvSpPr>
                  <p:cNvPr id="21" name="Arc 18"/>
                  <p:cNvSpPr/>
                  <p:nvPr/>
                </p:nvSpPr>
                <p:spPr>
                  <a:xfrm>
                    <a:off x="10960294" y="2592013"/>
                    <a:ext cx="446860" cy="446860"/>
                  </a:xfrm>
                  <a:prstGeom prst="arc">
                    <a:avLst>
                      <a:gd name="adj1" fmla="val 11045132"/>
                      <a:gd name="adj2" fmla="val 16078736"/>
                    </a:avLst>
                  </a:prstGeom>
                  <a:ln w="12700">
                    <a:solidFill>
                      <a:schemeClr val="tx1"/>
                    </a:solidFill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en-US" sz="1798"/>
                  </a:p>
                </p:txBody>
              </p:sp>
              <p:sp>
                <p:nvSpPr>
                  <p:cNvPr id="22" name="Arc 20"/>
                  <p:cNvSpPr/>
                  <p:nvPr/>
                </p:nvSpPr>
                <p:spPr>
                  <a:xfrm>
                    <a:off x="8912125" y="1734409"/>
                    <a:ext cx="2074127" cy="1959172"/>
                  </a:xfrm>
                  <a:prstGeom prst="arc">
                    <a:avLst>
                      <a:gd name="adj1" fmla="val 2159538"/>
                      <a:gd name="adj2" fmla="val 3249310"/>
                    </a:avLst>
                  </a:prstGeom>
                  <a:ln w="15875">
                    <a:solidFill>
                      <a:schemeClr val="tx1"/>
                    </a:solidFill>
                    <a:headEnd type="none"/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en-US" sz="1798"/>
                  </a:p>
                </p:txBody>
              </p:sp>
              <p:sp>
                <p:nvSpPr>
                  <p:cNvPr id="23" name="TextBox 20"/>
                  <p:cNvSpPr txBox="1"/>
                  <p:nvPr/>
                </p:nvSpPr>
                <p:spPr>
                  <a:xfrm>
                    <a:off x="9470111" y="3359357"/>
                    <a:ext cx="2343461" cy="454478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r>
                      <a:rPr lang="en-US" sz="1698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 </a:t>
                    </a:r>
                    <a:r>
                      <a:rPr lang="en-US" sz="1698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MS-CoA</a:t>
                    </a:r>
                    <a:endParaRPr lang="en-US" sz="1698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24" name="TextBox 16"/>
                  <p:cNvSpPr txBox="1"/>
                  <p:nvPr/>
                </p:nvSpPr>
                <p:spPr>
                  <a:xfrm>
                    <a:off x="7895969" y="2712628"/>
                    <a:ext cx="2320002" cy="454478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r>
                      <a:rPr lang="en-US" sz="1698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  </a:t>
                    </a:r>
                    <a:r>
                      <a:rPr lang="en-US" sz="1698" dirty="0">
                        <a:solidFill>
                          <a:srgbClr val="000000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M-C1-CoA</a:t>
                    </a:r>
                    <a:endParaRPr lang="en-US" sz="1698" dirty="0">
                      <a:solidFill>
                        <a:srgbClr val="00000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25" name="Arc 24"/>
                  <p:cNvSpPr/>
                  <p:nvPr/>
                </p:nvSpPr>
                <p:spPr>
                  <a:xfrm>
                    <a:off x="8905154" y="1718369"/>
                    <a:ext cx="2074127" cy="1959172"/>
                  </a:xfrm>
                  <a:prstGeom prst="arc">
                    <a:avLst>
                      <a:gd name="adj1" fmla="val 7182536"/>
                      <a:gd name="adj2" fmla="val 9721473"/>
                    </a:avLst>
                  </a:prstGeom>
                  <a:ln w="15875">
                    <a:solidFill>
                      <a:schemeClr val="tx1"/>
                    </a:solidFill>
                    <a:headEnd type="none"/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en-US" sz="1798"/>
                  </a:p>
                </p:txBody>
              </p:sp>
              <p:sp>
                <p:nvSpPr>
                  <p:cNvPr id="26" name="Arc 25"/>
                  <p:cNvSpPr/>
                  <p:nvPr/>
                </p:nvSpPr>
                <p:spPr>
                  <a:xfrm>
                    <a:off x="8891214" y="1701115"/>
                    <a:ext cx="2074127" cy="1959172"/>
                  </a:xfrm>
                  <a:prstGeom prst="arc">
                    <a:avLst>
                      <a:gd name="adj1" fmla="val 10498573"/>
                      <a:gd name="adj2" fmla="val 12393538"/>
                    </a:avLst>
                  </a:prstGeom>
                  <a:ln w="15875">
                    <a:solidFill>
                      <a:schemeClr val="tx1"/>
                    </a:solidFill>
                    <a:headEnd type="none"/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en-US" sz="1798"/>
                  </a:p>
                </p:txBody>
              </p:sp>
              <p:sp>
                <p:nvSpPr>
                  <p:cNvPr id="27" name="Arc 26"/>
                  <p:cNvSpPr/>
                  <p:nvPr/>
                </p:nvSpPr>
                <p:spPr>
                  <a:xfrm rot="2051979">
                    <a:off x="8716166" y="3278261"/>
                    <a:ext cx="603890" cy="446860"/>
                  </a:xfrm>
                  <a:prstGeom prst="arc">
                    <a:avLst>
                      <a:gd name="adj1" fmla="val 11495871"/>
                      <a:gd name="adj2" fmla="val 323015"/>
                    </a:avLst>
                  </a:prstGeom>
                  <a:ln w="12700">
                    <a:solidFill>
                      <a:schemeClr val="tx1"/>
                    </a:solidFill>
                    <a:head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en-US" sz="1798"/>
                  </a:p>
                </p:txBody>
              </p:sp>
              <p:sp>
                <p:nvSpPr>
                  <p:cNvPr id="28" name="TextBox 16"/>
                  <p:cNvSpPr txBox="1"/>
                  <p:nvPr/>
                </p:nvSpPr>
                <p:spPr>
                  <a:xfrm>
                    <a:off x="8891214" y="3660122"/>
                    <a:ext cx="2320002" cy="454478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r>
                      <a:rPr lang="en-US" sz="1698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 </a:t>
                    </a:r>
                    <a:r>
                      <a:rPr lang="en-US" sz="1598" dirty="0">
                        <a:solidFill>
                          <a:schemeClr val="accent2">
                            <a:lumMod val="75000"/>
                          </a:schemeClr>
                        </a:solidFill>
                      </a:rPr>
                      <a:t>FAD+</a:t>
                    </a:r>
                    <a:endParaRPr lang="en-US" sz="1698" dirty="0">
                      <a:solidFill>
                        <a:schemeClr val="accent2">
                          <a:lumMod val="75000"/>
                        </a:schemeClr>
                      </a:solidFill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29" name="TextBox 16"/>
                  <p:cNvSpPr txBox="1"/>
                  <p:nvPr/>
                </p:nvSpPr>
                <p:spPr>
                  <a:xfrm>
                    <a:off x="8084805" y="3169676"/>
                    <a:ext cx="2320002" cy="454478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r>
                      <a:rPr lang="en-US" sz="1698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  </a:t>
                    </a:r>
                    <a:r>
                      <a:rPr lang="en-US" altLang="zh-TW" sz="1598" dirty="0">
                        <a:solidFill>
                          <a:schemeClr val="accent2">
                            <a:lumMod val="75000"/>
                          </a:schemeClr>
                        </a:solidFill>
                      </a:rPr>
                      <a:t>FADH</a:t>
                    </a:r>
                    <a:r>
                      <a:rPr lang="en-US" altLang="zh-TW" sz="1598" baseline="-25000" dirty="0">
                        <a:solidFill>
                          <a:schemeClr val="accent2">
                            <a:lumMod val="75000"/>
                          </a:schemeClr>
                        </a:solidFill>
                      </a:rPr>
                      <a:t>2</a:t>
                    </a:r>
                    <a:endParaRPr lang="en-US" sz="1598" baseline="-25000" dirty="0">
                      <a:solidFill>
                        <a:schemeClr val="accent2">
                          <a:lumMod val="75000"/>
                        </a:schemeClr>
                      </a:solidFill>
                    </a:endParaRPr>
                  </a:p>
                </p:txBody>
              </p:sp>
              <p:sp>
                <p:nvSpPr>
                  <p:cNvPr id="30" name="Arc 29"/>
                  <p:cNvSpPr/>
                  <p:nvPr/>
                </p:nvSpPr>
                <p:spPr>
                  <a:xfrm rot="2051979">
                    <a:off x="8486701" y="3453504"/>
                    <a:ext cx="603890" cy="446860"/>
                  </a:xfrm>
                  <a:prstGeom prst="arc">
                    <a:avLst>
                      <a:gd name="adj1" fmla="val 774925"/>
                      <a:gd name="adj2" fmla="val 10912709"/>
                    </a:avLst>
                  </a:prstGeom>
                  <a:ln w="12700">
                    <a:solidFill>
                      <a:schemeClr val="tx1"/>
                    </a:solidFill>
                    <a:head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en-US" sz="1798"/>
                  </a:p>
                </p:txBody>
              </p:sp>
              <p:sp>
                <p:nvSpPr>
                  <p:cNvPr id="31" name="Arc 30"/>
                  <p:cNvSpPr/>
                  <p:nvPr/>
                </p:nvSpPr>
                <p:spPr>
                  <a:xfrm rot="2051979">
                    <a:off x="8182307" y="3785519"/>
                    <a:ext cx="603890" cy="446860"/>
                  </a:xfrm>
                  <a:prstGeom prst="arc">
                    <a:avLst>
                      <a:gd name="adj1" fmla="val 11742057"/>
                      <a:gd name="adj2" fmla="val 701700"/>
                    </a:avLst>
                  </a:prstGeom>
                  <a:ln w="12700">
                    <a:solidFill>
                      <a:schemeClr val="tx1"/>
                    </a:solidFill>
                    <a:headEnd type="none"/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en-US" sz="1798"/>
                  </a:p>
                </p:txBody>
              </p:sp>
              <p:sp>
                <p:nvSpPr>
                  <p:cNvPr id="32" name="TextBox 16"/>
                  <p:cNvSpPr txBox="1"/>
                  <p:nvPr/>
                </p:nvSpPr>
                <p:spPr>
                  <a:xfrm>
                    <a:off x="7779928" y="3660121"/>
                    <a:ext cx="2320002" cy="454478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r>
                      <a:rPr lang="en-US" sz="1698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  </a:t>
                    </a:r>
                    <a:r>
                      <a:rPr lang="en-US" altLang="zh-TW" sz="1598" dirty="0">
                        <a:solidFill>
                          <a:schemeClr val="accent6">
                            <a:lumMod val="50000"/>
                          </a:schemeClr>
                        </a:solidFill>
                      </a:rPr>
                      <a:t>Fc+</a:t>
                    </a:r>
                    <a:endParaRPr lang="en-US" sz="1598" baseline="-25000" dirty="0">
                      <a:solidFill>
                        <a:schemeClr val="accent6">
                          <a:lumMod val="50000"/>
                        </a:schemeClr>
                      </a:solidFill>
                    </a:endParaRPr>
                  </a:p>
                </p:txBody>
              </p:sp>
              <p:sp>
                <p:nvSpPr>
                  <p:cNvPr id="33" name="TextBox 16"/>
                  <p:cNvSpPr txBox="1"/>
                  <p:nvPr/>
                </p:nvSpPr>
                <p:spPr>
                  <a:xfrm>
                    <a:off x="8321839" y="4136279"/>
                    <a:ext cx="2320002" cy="454478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r>
                      <a:rPr lang="en-US" sz="1698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  </a:t>
                    </a:r>
                    <a:r>
                      <a:rPr lang="en-US" altLang="zh-TW" sz="1598" dirty="0">
                        <a:solidFill>
                          <a:schemeClr val="accent6">
                            <a:lumMod val="50000"/>
                          </a:schemeClr>
                        </a:solidFill>
                      </a:rPr>
                      <a:t>Fc</a:t>
                    </a:r>
                    <a:endParaRPr lang="en-US" sz="1598" baseline="-25000" dirty="0">
                      <a:solidFill>
                        <a:schemeClr val="accent6">
                          <a:lumMod val="50000"/>
                        </a:schemeClr>
                      </a:solidFill>
                    </a:endParaRPr>
                  </a:p>
                </p:txBody>
              </p:sp>
              <p:sp>
                <p:nvSpPr>
                  <p:cNvPr id="34" name="Arc 33"/>
                  <p:cNvSpPr/>
                  <p:nvPr/>
                </p:nvSpPr>
                <p:spPr>
                  <a:xfrm rot="2051979">
                    <a:off x="8032779" y="3953152"/>
                    <a:ext cx="603890" cy="446860"/>
                  </a:xfrm>
                  <a:prstGeom prst="arc">
                    <a:avLst>
                      <a:gd name="adj1" fmla="val 1735756"/>
                      <a:gd name="adj2" fmla="val 11119758"/>
                    </a:avLst>
                  </a:prstGeom>
                  <a:ln w="12700">
                    <a:solidFill>
                      <a:schemeClr val="tx1"/>
                    </a:solidFill>
                    <a:headEnd type="none"/>
                    <a:tailEnd type="triangle"/>
                  </a:ln>
                </p:spPr>
                <p:style>
                  <a:lnRef idx="1">
                    <a:schemeClr val="accent1"/>
                  </a:lnRef>
                  <a:fillRef idx="0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pPr algn="ctr"/>
                    <a:endParaRPr lang="en-US" sz="1798"/>
                  </a:p>
                </p:txBody>
              </p:sp>
              <p:sp>
                <p:nvSpPr>
                  <p:cNvPr id="35" name="TextBox 16"/>
                  <p:cNvSpPr txBox="1"/>
                  <p:nvPr/>
                </p:nvSpPr>
                <p:spPr>
                  <a:xfrm>
                    <a:off x="7877692" y="4595054"/>
                    <a:ext cx="2320002" cy="454478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>
                    <a:defPPr>
                      <a:defRPr lang="en-US"/>
                    </a:defPPr>
                    <a:lvl1pPr marL="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1pPr>
                    <a:lvl2pPr marL="457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2pPr>
                    <a:lvl3pPr marL="914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3pPr>
                    <a:lvl4pPr marL="1371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4pPr>
                    <a:lvl5pPr marL="18288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5pPr>
                    <a:lvl6pPr marL="22860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6pPr>
                    <a:lvl7pPr marL="27432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7pPr>
                    <a:lvl8pPr marL="32004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8pPr>
                    <a:lvl9pPr marL="3657600" algn="l" defTabSz="914400" rtl="0" eaLnBrk="1" latinLnBrk="0" hangingPunct="1">
                      <a:defRPr sz="1800" kern="120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defRPr>
                    </a:lvl9pPr>
                  </a:lstStyle>
                  <a:p>
                    <a:r>
                      <a:rPr lang="en-US" sz="1698" dirty="0">
                        <a:solidFill>
                          <a:schemeClr val="accent2">
                            <a:lumMod val="75000"/>
                          </a:schemeClr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rPr>
                      <a:t> </a:t>
                    </a:r>
                    <a:r>
                      <a:rPr lang="en-US" sz="1598" dirty="0">
                        <a:solidFill>
                          <a:srgbClr val="FF0000"/>
                        </a:solidFill>
                      </a:rPr>
                      <a:t>H</a:t>
                    </a:r>
                    <a:r>
                      <a:rPr lang="en-US" sz="1598" baseline="-25000" dirty="0">
                        <a:solidFill>
                          <a:srgbClr val="FF0000"/>
                        </a:solidFill>
                      </a:rPr>
                      <a:t>2</a:t>
                    </a:r>
                    <a:r>
                      <a:rPr lang="en-US" sz="1598" dirty="0">
                        <a:solidFill>
                          <a:srgbClr val="FF0000"/>
                        </a:solidFill>
                      </a:rPr>
                      <a:t>O</a:t>
                    </a:r>
                    <a:r>
                      <a:rPr lang="en-US" sz="1598" baseline="-25000" dirty="0">
                        <a:solidFill>
                          <a:srgbClr val="FF0000"/>
                        </a:solidFill>
                      </a:rPr>
                      <a:t>2</a:t>
                    </a:r>
                    <a:endParaRPr lang="en-US" sz="1598" dirty="0">
                      <a:solidFill>
                        <a:srgbClr val="FF0000"/>
                      </a:solidFill>
                    </a:endParaRPr>
                  </a:p>
                </p:txBody>
              </p:sp>
            </p:grpSp>
          </p:grpSp>
        </p:grpSp>
        <p:sp>
          <p:nvSpPr>
            <p:cNvPr id="37" name="TextBox 4"/>
            <p:cNvSpPr txBox="1"/>
            <p:nvPr/>
          </p:nvSpPr>
          <p:spPr>
            <a:xfrm>
              <a:off x="8694683" y="4834690"/>
              <a:ext cx="3243411" cy="11689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399" dirty="0"/>
                <a:t> FAD</a:t>
              </a:r>
              <a:r>
                <a:rPr lang="en-US" sz="1399" baseline="30000" dirty="0"/>
                <a:t>+</a:t>
              </a:r>
              <a:r>
                <a:rPr lang="en-US" sz="1399" dirty="0"/>
                <a:t> generation system:</a:t>
              </a:r>
            </a:p>
            <a:p>
              <a:r>
                <a:rPr lang="zh-TW" altLang="en-US" sz="1399" dirty="0"/>
                <a:t> </a:t>
              </a:r>
              <a:r>
                <a:rPr lang="en-US" sz="1399" dirty="0"/>
                <a:t>FADH</a:t>
              </a:r>
              <a:r>
                <a:rPr lang="en-US" sz="1399" baseline="-25000" dirty="0"/>
                <a:t>2</a:t>
              </a:r>
              <a:r>
                <a:rPr lang="en-US" sz="1399" dirty="0"/>
                <a:t> + Fc</a:t>
              </a:r>
              <a:r>
                <a:rPr lang="en-US" sz="1399" baseline="30000" dirty="0"/>
                <a:t>+</a:t>
              </a:r>
              <a:r>
                <a:rPr lang="en-US" sz="1399" dirty="0"/>
                <a:t> -&gt; FAD</a:t>
              </a:r>
              <a:r>
                <a:rPr lang="en-US" sz="1399" baseline="30000" dirty="0"/>
                <a:t> +</a:t>
              </a:r>
              <a:r>
                <a:rPr lang="en-US" sz="1399" dirty="0"/>
                <a:t> + Fc </a:t>
              </a:r>
              <a:br>
                <a:rPr lang="en-US" sz="1399" dirty="0"/>
              </a:br>
              <a:r>
                <a:rPr lang="en-US" sz="1399" dirty="0"/>
                <a:t>(spontaneous reaction)</a:t>
              </a:r>
            </a:p>
            <a:p>
              <a:r>
                <a:rPr lang="zh-TW" altLang="en-US" sz="1399" dirty="0"/>
                <a:t> </a:t>
              </a:r>
              <a:r>
                <a:rPr lang="zh-TW" altLang="en-US" sz="1399" dirty="0"/>
                <a:t> </a:t>
              </a:r>
              <a:r>
                <a:rPr lang="en-US" sz="1399" dirty="0"/>
                <a:t>Fc + H</a:t>
              </a:r>
              <a:r>
                <a:rPr lang="en-US" sz="1399" baseline="-25000" dirty="0"/>
                <a:t>2</a:t>
              </a:r>
              <a:r>
                <a:rPr lang="en-US" sz="1399" dirty="0"/>
                <a:t>O</a:t>
              </a:r>
              <a:r>
                <a:rPr lang="en-US" sz="1399" baseline="-25000" dirty="0"/>
                <a:t>2</a:t>
              </a:r>
              <a:r>
                <a:rPr lang="en-US" sz="1399" dirty="0"/>
                <a:t> -&gt; Fc</a:t>
              </a:r>
              <a:r>
                <a:rPr lang="en-US" sz="1399" baseline="30000" dirty="0"/>
                <a:t> +</a:t>
              </a:r>
              <a:r>
                <a:rPr lang="en-US" sz="1399" dirty="0"/>
                <a:t> + H</a:t>
              </a:r>
              <a:r>
                <a:rPr lang="en-US" sz="1399" baseline="-25000" dirty="0"/>
                <a:t>2</a:t>
              </a:r>
              <a:r>
                <a:rPr lang="en-US" sz="1399" dirty="0"/>
                <a:t>O (catalyzed by HRP)</a:t>
              </a:r>
            </a:p>
          </p:txBody>
        </p:sp>
      </p:grpSp>
      <p:grpSp>
        <p:nvGrpSpPr>
          <p:cNvPr id="6" name="群組 5"/>
          <p:cNvGrpSpPr/>
          <p:nvPr/>
        </p:nvGrpSpPr>
        <p:grpSpPr>
          <a:xfrm>
            <a:off x="6088919" y="2200619"/>
            <a:ext cx="5208620" cy="3075611"/>
            <a:chOff x="2405683" y="1848908"/>
            <a:chExt cx="5214051" cy="3078818"/>
          </a:xfrm>
        </p:grpSpPr>
        <p:sp>
          <p:nvSpPr>
            <p:cNvPr id="5" name="文字方塊 4"/>
            <p:cNvSpPr txBox="1"/>
            <p:nvPr/>
          </p:nvSpPr>
          <p:spPr>
            <a:xfrm>
              <a:off x="2405683" y="1877817"/>
              <a:ext cx="709448" cy="6456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798" dirty="0"/>
                <a:t>H2O2</a:t>
              </a:r>
              <a:endParaRPr lang="zh-TW" altLang="en-US" sz="1798" dirty="0"/>
            </a:p>
          </p:txBody>
        </p:sp>
        <p:cxnSp>
          <p:nvCxnSpPr>
            <p:cNvPr id="7" name="直線單箭頭接點 6"/>
            <p:cNvCxnSpPr/>
            <p:nvPr/>
          </p:nvCxnSpPr>
          <p:spPr>
            <a:xfrm>
              <a:off x="2717085" y="2303029"/>
              <a:ext cx="0" cy="698203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" name="直線單箭頭接點 7"/>
            <p:cNvCxnSpPr/>
            <p:nvPr/>
          </p:nvCxnSpPr>
          <p:spPr>
            <a:xfrm>
              <a:off x="3672125" y="2254693"/>
              <a:ext cx="0" cy="698203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文字方塊 8"/>
            <p:cNvSpPr txBox="1"/>
            <p:nvPr/>
          </p:nvSpPr>
          <p:spPr>
            <a:xfrm>
              <a:off x="3317401" y="1848908"/>
              <a:ext cx="709448" cy="6456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798" dirty="0"/>
                <a:t>H2O2</a:t>
              </a:r>
              <a:endParaRPr lang="zh-TW" altLang="en-US" sz="1798" dirty="0"/>
            </a:p>
          </p:txBody>
        </p:sp>
        <p:cxnSp>
          <p:nvCxnSpPr>
            <p:cNvPr id="10" name="直線單箭頭接點 9"/>
            <p:cNvCxnSpPr/>
            <p:nvPr/>
          </p:nvCxnSpPr>
          <p:spPr>
            <a:xfrm>
              <a:off x="5937805" y="2711984"/>
              <a:ext cx="0" cy="698203"/>
            </a:xfrm>
            <a:prstGeom prst="straightConnector1">
              <a:avLst/>
            </a:prstGeom>
            <a:ln w="25400"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1" name="文字方塊 10"/>
            <p:cNvSpPr txBox="1"/>
            <p:nvPr/>
          </p:nvSpPr>
          <p:spPr>
            <a:xfrm>
              <a:off x="5416941" y="2370592"/>
              <a:ext cx="220279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798" dirty="0"/>
                <a:t>Automation control</a:t>
              </a:r>
              <a:endParaRPr lang="zh-TW" altLang="en-US" sz="1798" dirty="0"/>
            </a:p>
          </p:txBody>
        </p:sp>
        <p:sp>
          <p:nvSpPr>
            <p:cNvPr id="2" name="文字方塊 1"/>
            <p:cNvSpPr txBox="1"/>
            <p:nvPr/>
          </p:nvSpPr>
          <p:spPr>
            <a:xfrm>
              <a:off x="4026849" y="4558394"/>
              <a:ext cx="165020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798" dirty="0"/>
                <a:t>Time(Sec)</a:t>
              </a:r>
              <a:endParaRPr lang="zh-TW" altLang="en-US" sz="1798" dirty="0"/>
            </a:p>
          </p:txBody>
        </p:sp>
      </p:grpSp>
      <p:grpSp>
        <p:nvGrpSpPr>
          <p:cNvPr id="12" name="群組 11"/>
          <p:cNvGrpSpPr/>
          <p:nvPr/>
        </p:nvGrpSpPr>
        <p:grpSpPr>
          <a:xfrm>
            <a:off x="4791565" y="5041152"/>
            <a:ext cx="2232872" cy="542983"/>
            <a:chOff x="5030330" y="3860653"/>
            <a:chExt cx="2235200" cy="543549"/>
          </a:xfrm>
        </p:grpSpPr>
        <p:sp>
          <p:nvSpPr>
            <p:cNvPr id="36" name="文字方塊 35"/>
            <p:cNvSpPr txBox="1"/>
            <p:nvPr/>
          </p:nvSpPr>
          <p:spPr>
            <a:xfrm>
              <a:off x="5030330" y="4000894"/>
              <a:ext cx="22352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798" dirty="0">
                  <a:solidFill>
                    <a:srgbClr val="FF0000"/>
                  </a:solidFill>
                </a:rPr>
                <a:t>Fc+    then UV300 </a:t>
              </a:r>
              <a:endParaRPr lang="zh-TW" altLang="en-US" sz="1798" dirty="0">
                <a:solidFill>
                  <a:srgbClr val="FF0000"/>
                </a:solidFill>
              </a:endParaRPr>
            </a:p>
          </p:txBody>
        </p:sp>
        <p:cxnSp>
          <p:nvCxnSpPr>
            <p:cNvPr id="38" name="直線單箭頭接點 37"/>
            <p:cNvCxnSpPr/>
            <p:nvPr/>
          </p:nvCxnSpPr>
          <p:spPr>
            <a:xfrm flipV="1">
              <a:off x="5506469" y="3929232"/>
              <a:ext cx="0" cy="47497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直線單箭頭接點 38"/>
            <p:cNvCxnSpPr/>
            <p:nvPr/>
          </p:nvCxnSpPr>
          <p:spPr>
            <a:xfrm flipH="1">
              <a:off x="6826415" y="3860653"/>
              <a:ext cx="8530" cy="497840"/>
            </a:xfrm>
            <a:prstGeom prst="straightConnector1">
              <a:avLst/>
            </a:prstGeom>
            <a:ln>
              <a:solidFill>
                <a:schemeClr val="tx1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9" name="群組 68"/>
          <p:cNvGrpSpPr/>
          <p:nvPr/>
        </p:nvGrpSpPr>
        <p:grpSpPr>
          <a:xfrm>
            <a:off x="8609982" y="5513509"/>
            <a:ext cx="2894657" cy="2138461"/>
            <a:chOff x="6760264" y="1690660"/>
            <a:chExt cx="2897675" cy="2140691"/>
          </a:xfrm>
        </p:grpSpPr>
        <p:sp>
          <p:nvSpPr>
            <p:cNvPr id="70" name="標題 1"/>
            <p:cNvSpPr txBox="1">
              <a:spLocks/>
            </p:cNvSpPr>
            <p:nvPr/>
          </p:nvSpPr>
          <p:spPr>
            <a:xfrm>
              <a:off x="7316379" y="1690660"/>
              <a:ext cx="895431" cy="432048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3175">
              <a:solidFill>
                <a:schemeClr val="tx1"/>
              </a:solidFill>
            </a:ln>
          </p:spPr>
          <p:txBody>
            <a:bodyPr vert="horz" lIns="91345" tIns="45672" rIns="91345" bIns="45672" rtlCol="0" anchor="ctr">
              <a:noAutofit/>
            </a:bodyPr>
            <a:lstStyle/>
            <a:p>
              <a:pPr algn="ctr">
                <a:spcBef>
                  <a:spcPct val="0"/>
                </a:spcBef>
                <a:defRPr/>
              </a:pPr>
              <a:r>
                <a:rPr lang="en-US" altLang="zh-TW" sz="1598" dirty="0">
                  <a:latin typeface="Arial" pitchFamily="34" charset="0"/>
                  <a:ea typeface="+mj-ea"/>
                  <a:cs typeface="Arial" pitchFamily="34" charset="0"/>
                </a:rPr>
                <a:t>UV300 </a:t>
              </a:r>
              <a:endParaRPr lang="en-US" altLang="zh-TW" sz="1598" dirty="0">
                <a:latin typeface="Arial" pitchFamily="34" charset="0"/>
                <a:ea typeface="+mj-ea"/>
                <a:cs typeface="Arial" pitchFamily="34" charset="0"/>
              </a:endParaRPr>
            </a:p>
          </p:txBody>
        </p:sp>
        <p:cxnSp>
          <p:nvCxnSpPr>
            <p:cNvPr id="71" name="直線接點 70"/>
            <p:cNvCxnSpPr/>
            <p:nvPr/>
          </p:nvCxnSpPr>
          <p:spPr>
            <a:xfrm flipV="1">
              <a:off x="7712751" y="2182103"/>
              <a:ext cx="3099" cy="1133507"/>
            </a:xfrm>
            <a:prstGeom prst="line">
              <a:avLst/>
            </a:prstGeom>
            <a:ln w="38100">
              <a:solidFill>
                <a:schemeClr val="accent3"/>
              </a:solidFill>
              <a:head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2" name="標題 1"/>
            <p:cNvSpPr txBox="1">
              <a:spLocks/>
            </p:cNvSpPr>
            <p:nvPr/>
          </p:nvSpPr>
          <p:spPr>
            <a:xfrm>
              <a:off x="6760264" y="3412054"/>
              <a:ext cx="1284935" cy="41929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3175">
              <a:solidFill>
                <a:schemeClr val="tx1"/>
              </a:solidFill>
            </a:ln>
          </p:spPr>
          <p:txBody>
            <a:bodyPr vert="horz" lIns="91345" tIns="45672" rIns="91345" bIns="45672" rtlCol="0" anchor="ctr">
              <a:noAutofit/>
            </a:bodyPr>
            <a:lstStyle/>
            <a:p>
              <a:pPr algn="ctr">
                <a:spcBef>
                  <a:spcPct val="0"/>
                </a:spcBef>
                <a:defRPr/>
              </a:pPr>
              <a:r>
                <a:rPr lang="en-US" altLang="zh-TW" sz="1399" dirty="0">
                  <a:latin typeface="Arial" pitchFamily="34" charset="0"/>
                  <a:ea typeface="+mj-ea"/>
                  <a:cs typeface="Arial" pitchFamily="34" charset="0"/>
                </a:rPr>
                <a:t>Turn On Pump</a:t>
              </a:r>
              <a:endParaRPr lang="en-US" altLang="zh-TW" sz="1399" dirty="0">
                <a:latin typeface="Arial" pitchFamily="34" charset="0"/>
                <a:ea typeface="+mj-ea"/>
                <a:cs typeface="Arial" pitchFamily="34" charset="0"/>
              </a:endParaRPr>
            </a:p>
          </p:txBody>
        </p:sp>
        <p:sp>
          <p:nvSpPr>
            <p:cNvPr id="73" name="文字方塊 72"/>
            <p:cNvSpPr txBox="1"/>
            <p:nvPr/>
          </p:nvSpPr>
          <p:spPr>
            <a:xfrm>
              <a:off x="8211810" y="1718604"/>
              <a:ext cx="1446129" cy="6456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798" dirty="0"/>
                <a:t>&gt; Threshold1 ?</a:t>
              </a:r>
              <a:endParaRPr lang="zh-TW" altLang="en-US" sz="1798" dirty="0"/>
            </a:p>
          </p:txBody>
        </p:sp>
        <p:sp>
          <p:nvSpPr>
            <p:cNvPr id="74" name="文字方塊 73"/>
            <p:cNvSpPr txBox="1"/>
            <p:nvPr/>
          </p:nvSpPr>
          <p:spPr>
            <a:xfrm>
              <a:off x="7258507" y="2850998"/>
              <a:ext cx="608843" cy="6456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798" dirty="0"/>
                <a:t>YES</a:t>
              </a:r>
              <a:endParaRPr lang="zh-TW" altLang="en-US" sz="1798" dirty="0"/>
            </a:p>
          </p:txBody>
        </p:sp>
        <p:cxnSp>
          <p:nvCxnSpPr>
            <p:cNvPr id="75" name="直線接點 74"/>
            <p:cNvCxnSpPr/>
            <p:nvPr/>
          </p:nvCxnSpPr>
          <p:spPr>
            <a:xfrm flipH="1" flipV="1">
              <a:off x="7693084" y="2789569"/>
              <a:ext cx="692734" cy="9208"/>
            </a:xfrm>
            <a:prstGeom prst="line">
              <a:avLst/>
            </a:prstGeom>
            <a:ln w="38100">
              <a:solidFill>
                <a:schemeClr val="accent3"/>
              </a:solidFill>
              <a:head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6" name="文字方塊 75"/>
            <p:cNvSpPr txBox="1"/>
            <p:nvPr/>
          </p:nvSpPr>
          <p:spPr>
            <a:xfrm>
              <a:off x="7996643" y="2453379"/>
              <a:ext cx="608843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798" dirty="0"/>
                <a:t>NO</a:t>
              </a:r>
              <a:endParaRPr lang="zh-TW" altLang="en-US" sz="1798" dirty="0"/>
            </a:p>
          </p:txBody>
        </p:sp>
        <p:sp>
          <p:nvSpPr>
            <p:cNvPr id="77" name="標題 1"/>
            <p:cNvSpPr txBox="1">
              <a:spLocks/>
            </p:cNvSpPr>
            <p:nvPr/>
          </p:nvSpPr>
          <p:spPr>
            <a:xfrm>
              <a:off x="8433411" y="2692315"/>
              <a:ext cx="941366" cy="419297"/>
            </a:xfrm>
            <a:prstGeom prst="rect">
              <a:avLst/>
            </a:prstGeom>
            <a:solidFill>
              <a:schemeClr val="accent6">
                <a:lumMod val="20000"/>
                <a:lumOff val="80000"/>
              </a:schemeClr>
            </a:solidFill>
            <a:ln w="3175">
              <a:solidFill>
                <a:schemeClr val="tx1"/>
              </a:solidFill>
            </a:ln>
          </p:spPr>
          <p:txBody>
            <a:bodyPr vert="horz" lIns="91345" tIns="45672" rIns="91345" bIns="45672" rtlCol="0" anchor="ctr">
              <a:noAutofit/>
            </a:bodyPr>
            <a:lstStyle/>
            <a:p>
              <a:pPr algn="ctr">
                <a:spcBef>
                  <a:spcPct val="0"/>
                </a:spcBef>
                <a:defRPr/>
              </a:pPr>
              <a:r>
                <a:rPr lang="en-US" altLang="zh-TW" sz="1399" dirty="0">
                  <a:latin typeface="Arial" pitchFamily="34" charset="0"/>
                  <a:ea typeface="+mj-ea"/>
                  <a:cs typeface="Arial" pitchFamily="34" charset="0"/>
                </a:rPr>
                <a:t>Turn Off Pump</a:t>
              </a:r>
              <a:endParaRPr lang="en-US" altLang="zh-TW" sz="1399" dirty="0">
                <a:latin typeface="Arial" pitchFamily="34" charset="0"/>
                <a:ea typeface="+mj-ea"/>
                <a:cs typeface="Arial" pitchFamily="34" charset="0"/>
              </a:endParaRPr>
            </a:p>
          </p:txBody>
        </p:sp>
      </p:grpSp>
      <p:cxnSp>
        <p:nvCxnSpPr>
          <p:cNvPr id="41" name="直線接點 40"/>
          <p:cNvCxnSpPr/>
          <p:nvPr/>
        </p:nvCxnSpPr>
        <p:spPr>
          <a:xfrm>
            <a:off x="7612063" y="3863681"/>
            <a:ext cx="4225417" cy="17072"/>
          </a:xfrm>
          <a:prstGeom prst="lin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文字方塊 42"/>
          <p:cNvSpPr txBox="1"/>
          <p:nvPr/>
        </p:nvSpPr>
        <p:spPr>
          <a:xfrm>
            <a:off x="7554467" y="3907531"/>
            <a:ext cx="1857343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798" b="1" dirty="0"/>
              <a:t>Threshold Line</a:t>
            </a:r>
            <a:endParaRPr lang="zh-TW" altLang="en-US" sz="1798" b="1" dirty="0"/>
          </a:p>
        </p:txBody>
      </p:sp>
    </p:spTree>
    <p:extLst>
      <p:ext uri="{BB962C8B-B14F-4D97-AF65-F5344CB8AC3E}">
        <p14:creationId xmlns:p14="http://schemas.microsoft.com/office/powerpoint/2010/main" val="254034178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/>
          <p:cNvSpPr txBox="1">
            <a:spLocks noGrp="1"/>
          </p:cNvSpPr>
          <p:nvPr>
            <p:ph type="subTitle" idx="1"/>
          </p:nvPr>
        </p:nvSpPr>
        <p:spPr>
          <a:xfrm>
            <a:off x="1522413" y="1525239"/>
            <a:ext cx="9134475" cy="850322"/>
          </a:xfrm>
          <a:prstGeom prst="rect">
            <a:avLst/>
          </a:prstGeom>
          <a:gradFill flip="none" rotWithShape="1">
            <a:gsLst>
              <a:gs pos="0">
                <a:schemeClr val="accent6">
                  <a:lumMod val="5000"/>
                  <a:lumOff val="95000"/>
                </a:schemeClr>
              </a:gs>
              <a:gs pos="74000">
                <a:schemeClr val="accent6">
                  <a:lumMod val="45000"/>
                  <a:lumOff val="55000"/>
                </a:schemeClr>
              </a:gs>
              <a:gs pos="83000">
                <a:schemeClr val="accent6">
                  <a:lumMod val="45000"/>
                  <a:lumOff val="55000"/>
                </a:schemeClr>
              </a:gs>
              <a:gs pos="100000">
                <a:schemeClr val="accent6">
                  <a:lumMod val="30000"/>
                  <a:lumOff val="70000"/>
                </a:schemeClr>
              </a:gs>
            </a:gsLst>
            <a:lin ang="5400000" scaled="1"/>
            <a:tileRect/>
          </a:gradFill>
          <a:effectLst>
            <a:glow rad="101600">
              <a:schemeClr val="tx1">
                <a:alpha val="60000"/>
              </a:schemeClr>
            </a:glow>
          </a:effectLst>
        </p:spPr>
        <p:txBody>
          <a:bodyPr vert="horz" lIns="91345" tIns="45672" rIns="91345" bIns="45672" rtlCol="0" anchor="ctr">
            <a:noAutofit/>
          </a:bodyPr>
          <a:lstStyle/>
          <a:p>
            <a:r>
              <a:rPr lang="en-US" sz="3197" dirty="0"/>
              <a:t>Challenge of H</a:t>
            </a:r>
            <a:r>
              <a:rPr lang="en-US" sz="3197" baseline="-25000" dirty="0"/>
              <a:t>2</a:t>
            </a:r>
            <a:r>
              <a:rPr lang="en-US" sz="3197" dirty="0"/>
              <a:t>O</a:t>
            </a:r>
            <a:r>
              <a:rPr lang="en-US" sz="3197" baseline="-25000" dirty="0"/>
              <a:t>2</a:t>
            </a:r>
            <a:r>
              <a:rPr lang="en-US" sz="3197" dirty="0"/>
              <a:t> control concentration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1522413" y="2595470"/>
            <a:ext cx="9134475" cy="16279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464" indent="-285464">
              <a:buFont typeface="Arial" panose="020B0604020202020204" pitchFamily="34" charset="0"/>
              <a:buChar char="•"/>
            </a:pPr>
            <a:r>
              <a:rPr lang="en-US" sz="1998" dirty="0"/>
              <a:t>H</a:t>
            </a:r>
            <a:r>
              <a:rPr lang="en-US" sz="1998" baseline="-25000" dirty="0"/>
              <a:t>2</a:t>
            </a:r>
            <a:r>
              <a:rPr lang="en-US" sz="1998" dirty="0"/>
              <a:t>O</a:t>
            </a:r>
            <a:r>
              <a:rPr lang="en-US" sz="1998" baseline="-25000" dirty="0"/>
              <a:t>2</a:t>
            </a:r>
            <a:r>
              <a:rPr lang="en-US" sz="1998" dirty="0"/>
              <a:t> conc. should stay low for preventing protein damage</a:t>
            </a:r>
          </a:p>
          <a:p>
            <a:pPr marL="285464" indent="-285464">
              <a:buFont typeface="Arial" panose="020B0604020202020204" pitchFamily="34" charset="0"/>
              <a:buChar char="•"/>
            </a:pPr>
            <a:r>
              <a:rPr lang="en-US" sz="1998" dirty="0"/>
              <a:t>UV300 nm can be used for monitoring Fc</a:t>
            </a:r>
            <a:r>
              <a:rPr lang="en-US" sz="1998" baseline="30000" dirty="0"/>
              <a:t>+</a:t>
            </a:r>
            <a:r>
              <a:rPr lang="en-US" sz="1998" dirty="0"/>
              <a:t>, but it is affected by CoA compounds (UV260), NAD(P)H (UV340) and FAD</a:t>
            </a:r>
            <a:r>
              <a:rPr lang="en-US" sz="1998" baseline="30000" dirty="0"/>
              <a:t>+</a:t>
            </a:r>
            <a:r>
              <a:rPr lang="en-US" sz="1998" dirty="0"/>
              <a:t> (UV370) </a:t>
            </a:r>
          </a:p>
          <a:p>
            <a:pPr marL="285464" indent="-285464">
              <a:buFont typeface="Arial" panose="020B0604020202020204" pitchFamily="34" charset="0"/>
              <a:buChar char="•"/>
            </a:pPr>
            <a:r>
              <a:rPr lang="en-US" sz="1998" dirty="0"/>
              <a:t>UV340 nm can be used for monitoring NAD(P), but it is affected by FAD</a:t>
            </a:r>
            <a:r>
              <a:rPr lang="en-US" sz="1998" baseline="30000" dirty="0"/>
              <a:t>+</a:t>
            </a:r>
            <a:r>
              <a:rPr lang="en-US" sz="1998" dirty="0"/>
              <a:t> (UV370) </a:t>
            </a:r>
            <a:endParaRPr lang="en-US" sz="1998" dirty="0"/>
          </a:p>
        </p:txBody>
      </p:sp>
      <p:grpSp>
        <p:nvGrpSpPr>
          <p:cNvPr id="5" name="Group 4"/>
          <p:cNvGrpSpPr/>
          <p:nvPr/>
        </p:nvGrpSpPr>
        <p:grpSpPr>
          <a:xfrm>
            <a:off x="-319372" y="4240691"/>
            <a:ext cx="9136857" cy="3629216"/>
            <a:chOff x="-68350" y="2225207"/>
            <a:chExt cx="9753976" cy="3633000"/>
          </a:xfrm>
        </p:grpSpPr>
        <p:pic>
          <p:nvPicPr>
            <p:cNvPr id="7" name="圖片 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-68350" y="2225207"/>
              <a:ext cx="9753976" cy="3633000"/>
            </a:xfrm>
            <a:prstGeom prst="rect">
              <a:avLst/>
            </a:prstGeom>
          </p:spPr>
        </p:pic>
        <p:cxnSp>
          <p:nvCxnSpPr>
            <p:cNvPr id="8" name="直線接點 3">
              <a:extLst>
                <a:ext uri="{FF2B5EF4-FFF2-40B4-BE49-F238E27FC236}">
                  <a16:creationId xmlns="" xmlns:a16="http://schemas.microsoft.com/office/drawing/2014/main" id="{E5A996EC-B9AE-40E4-8576-6D34256C6D68}"/>
                </a:ext>
              </a:extLst>
            </p:cNvPr>
            <p:cNvCxnSpPr/>
            <p:nvPr/>
          </p:nvCxnSpPr>
          <p:spPr>
            <a:xfrm flipV="1">
              <a:off x="4656087" y="2515222"/>
              <a:ext cx="0" cy="2603537"/>
            </a:xfrm>
            <a:prstGeom prst="line">
              <a:avLst/>
            </a:prstGeom>
            <a:ln w="38100">
              <a:solidFill>
                <a:srgbClr val="FF0000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" name="群組 35">
              <a:extLst>
                <a:ext uri="{FF2B5EF4-FFF2-40B4-BE49-F238E27FC236}">
                  <a16:creationId xmlns="" xmlns:a16="http://schemas.microsoft.com/office/drawing/2014/main" id="{3A74127E-3CB2-45ED-80F8-104B65009209}"/>
                </a:ext>
              </a:extLst>
            </p:cNvPr>
            <p:cNvGrpSpPr/>
            <p:nvPr/>
          </p:nvGrpSpPr>
          <p:grpSpPr>
            <a:xfrm>
              <a:off x="5436399" y="2630865"/>
              <a:ext cx="2806996" cy="1628689"/>
              <a:chOff x="1621315" y="5162935"/>
              <a:chExt cx="2806996" cy="1628689"/>
            </a:xfrm>
          </p:grpSpPr>
          <p:sp>
            <p:nvSpPr>
              <p:cNvPr id="10" name="矩形 25">
                <a:extLst>
                  <a:ext uri="{FF2B5EF4-FFF2-40B4-BE49-F238E27FC236}">
                    <a16:creationId xmlns="" xmlns:a16="http://schemas.microsoft.com/office/drawing/2014/main" id="{C255B7F4-48E2-4C9D-BE20-69BD5AE43943}"/>
                  </a:ext>
                </a:extLst>
              </p:cNvPr>
              <p:cNvSpPr/>
              <p:nvPr/>
            </p:nvSpPr>
            <p:spPr>
              <a:xfrm>
                <a:off x="1621315" y="5162935"/>
                <a:ext cx="2806996" cy="1628689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TW" altLang="en-US" sz="1798"/>
              </a:p>
            </p:txBody>
          </p:sp>
          <p:grpSp>
            <p:nvGrpSpPr>
              <p:cNvPr id="11" name="群組 26">
                <a:extLst>
                  <a:ext uri="{FF2B5EF4-FFF2-40B4-BE49-F238E27FC236}">
                    <a16:creationId xmlns="" xmlns:a16="http://schemas.microsoft.com/office/drawing/2014/main" id="{0FD96632-0BA6-462F-8EB6-D7B2A0FC8483}"/>
                  </a:ext>
                </a:extLst>
              </p:cNvPr>
              <p:cNvGrpSpPr/>
              <p:nvPr/>
            </p:nvGrpSpPr>
            <p:grpSpPr>
              <a:xfrm>
                <a:off x="1621315" y="5399513"/>
                <a:ext cx="2730827" cy="1320970"/>
                <a:chOff x="641751" y="5143626"/>
                <a:chExt cx="2730827" cy="1320970"/>
              </a:xfrm>
            </p:grpSpPr>
            <p:pic>
              <p:nvPicPr>
                <p:cNvPr id="12" name="圖片 27">
                  <a:extLst>
                    <a:ext uri="{FF2B5EF4-FFF2-40B4-BE49-F238E27FC236}">
                      <a16:creationId xmlns="" xmlns:a16="http://schemas.microsoft.com/office/drawing/2014/main" id="{0FE841CF-02F7-450E-BCA1-609EA76BA374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54787" t="13640" r="38707" b="50000"/>
                <a:stretch/>
              </p:blipFill>
              <p:spPr>
                <a:xfrm>
                  <a:off x="641751" y="5143626"/>
                  <a:ext cx="634599" cy="1320970"/>
                </a:xfrm>
                <a:prstGeom prst="rect">
                  <a:avLst/>
                </a:prstGeom>
              </p:spPr>
            </p:pic>
            <p:pic>
              <p:nvPicPr>
                <p:cNvPr id="13" name="圖片 28">
                  <a:extLst>
                    <a:ext uri="{FF2B5EF4-FFF2-40B4-BE49-F238E27FC236}">
                      <a16:creationId xmlns="" xmlns:a16="http://schemas.microsoft.com/office/drawing/2014/main" id="{335D327E-0900-484C-BF7A-2F8FA9297358}"/>
                    </a:ext>
                  </a:extLst>
                </p:cNvPr>
                <p:cNvPicPr>
                  <a:picLocks noChangeAspect="1"/>
                </p:cNvPicPr>
                <p:nvPr/>
              </p:nvPicPr>
              <p:blipFill rotWithShape="1">
                <a:blip r:embed="rId2"/>
                <a:srcRect l="81231" t="13640" r="17424" b="50000"/>
                <a:stretch/>
              </p:blipFill>
              <p:spPr>
                <a:xfrm>
                  <a:off x="3043568" y="5143626"/>
                  <a:ext cx="131159" cy="1320970"/>
                </a:xfrm>
                <a:prstGeom prst="rect">
                  <a:avLst/>
                </a:prstGeom>
              </p:spPr>
            </p:pic>
            <p:sp>
              <p:nvSpPr>
                <p:cNvPr id="14" name="文字方塊 29">
                  <a:extLst>
                    <a:ext uri="{FF2B5EF4-FFF2-40B4-BE49-F238E27FC236}">
                      <a16:creationId xmlns="" xmlns:a16="http://schemas.microsoft.com/office/drawing/2014/main" id="{2658F126-7F40-486F-9CFC-F2AF558D9D5C}"/>
                    </a:ext>
                  </a:extLst>
                </p:cNvPr>
                <p:cNvSpPr txBox="1"/>
                <p:nvPr/>
              </p:nvSpPr>
              <p:spPr>
                <a:xfrm>
                  <a:off x="1219200" y="5176140"/>
                  <a:ext cx="1400415" cy="36901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TW" sz="1798" dirty="0"/>
                    <a:t>Add NADH</a:t>
                  </a:r>
                  <a:endParaRPr lang="zh-TW" altLang="en-US" sz="1798" dirty="0"/>
                </a:p>
              </p:txBody>
            </p:sp>
            <p:sp>
              <p:nvSpPr>
                <p:cNvPr id="15" name="文字方塊 30">
                  <a:extLst>
                    <a:ext uri="{FF2B5EF4-FFF2-40B4-BE49-F238E27FC236}">
                      <a16:creationId xmlns="" xmlns:a16="http://schemas.microsoft.com/office/drawing/2014/main" id="{0BBAD6FE-2969-4E93-848B-3D6974BBA835}"/>
                    </a:ext>
                  </a:extLst>
                </p:cNvPr>
                <p:cNvSpPr txBox="1"/>
                <p:nvPr/>
              </p:nvSpPr>
              <p:spPr>
                <a:xfrm>
                  <a:off x="1206313" y="5480748"/>
                  <a:ext cx="1733493" cy="36901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TW" sz="1798" dirty="0"/>
                    <a:t>Add </a:t>
                  </a:r>
                  <a:r>
                    <a:rPr lang="en-US" altLang="zh-TW" sz="1798" dirty="0"/>
                    <a:t>ATP, CoA</a:t>
                  </a:r>
                  <a:endParaRPr lang="zh-TW" altLang="en-US" sz="1798" dirty="0"/>
                </a:p>
              </p:txBody>
            </p:sp>
            <p:sp>
              <p:nvSpPr>
                <p:cNvPr id="16" name="文字方塊 31">
                  <a:extLst>
                    <a:ext uri="{FF2B5EF4-FFF2-40B4-BE49-F238E27FC236}">
                      <a16:creationId xmlns="" xmlns:a16="http://schemas.microsoft.com/office/drawing/2014/main" id="{5E8DF121-151E-4E12-AD9D-B31D457B41B5}"/>
                    </a:ext>
                  </a:extLst>
                </p:cNvPr>
                <p:cNvSpPr txBox="1"/>
                <p:nvPr/>
              </p:nvSpPr>
              <p:spPr>
                <a:xfrm>
                  <a:off x="1206312" y="5784636"/>
                  <a:ext cx="2166266" cy="36901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TW" sz="1798" dirty="0"/>
                    <a:t>Whole MCG cycle</a:t>
                  </a:r>
                  <a:endParaRPr lang="zh-TW" altLang="en-US" sz="1798" dirty="0"/>
                </a:p>
              </p:txBody>
            </p:sp>
            <p:sp>
              <p:nvSpPr>
                <p:cNvPr id="17" name="文字方塊 32">
                  <a:extLst>
                    <a:ext uri="{FF2B5EF4-FFF2-40B4-BE49-F238E27FC236}">
                      <a16:creationId xmlns="" xmlns:a16="http://schemas.microsoft.com/office/drawing/2014/main" id="{94652F7A-696B-4F7D-998D-141C742864B8}"/>
                    </a:ext>
                  </a:extLst>
                </p:cNvPr>
                <p:cNvSpPr txBox="1"/>
                <p:nvPr/>
              </p:nvSpPr>
              <p:spPr>
                <a:xfrm>
                  <a:off x="1215216" y="6077768"/>
                  <a:ext cx="2125238" cy="36901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US" altLang="zh-TW" sz="1798" dirty="0"/>
                    <a:t>Final steady state</a:t>
                  </a:r>
                  <a:endParaRPr lang="zh-TW" altLang="en-US" sz="1798" dirty="0"/>
                </a:p>
              </p:txBody>
            </p:sp>
            <p:cxnSp>
              <p:nvCxnSpPr>
                <p:cNvPr id="18" name="直線接點 33">
                  <a:extLst>
                    <a:ext uri="{FF2B5EF4-FFF2-40B4-BE49-F238E27FC236}">
                      <a16:creationId xmlns="" xmlns:a16="http://schemas.microsoft.com/office/drawing/2014/main" id="{EBF56846-B7E7-484F-AD45-E9F5A62535C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271271" y="5204718"/>
                  <a:ext cx="1816771" cy="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19" name="直線接點 34">
                  <a:extLst>
                    <a:ext uri="{FF2B5EF4-FFF2-40B4-BE49-F238E27FC236}">
                      <a16:creationId xmlns="" xmlns:a16="http://schemas.microsoft.com/office/drawing/2014/main" id="{D347B2ED-3FE0-4637-82F9-135D3B0B6D8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223770" y="6426463"/>
                  <a:ext cx="1816771" cy="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0" name="直線接點 33">
                  <a:extLst>
                    <a:ext uri="{FF2B5EF4-FFF2-40B4-BE49-F238E27FC236}">
                      <a16:creationId xmlns="" xmlns:a16="http://schemas.microsoft.com/office/drawing/2014/main" id="{EBF56846-B7E7-484F-AD45-E9F5A62535C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1120496" y="5199322"/>
                  <a:ext cx="1816771" cy="0"/>
                </a:xfrm>
                <a:prstGeom prst="line">
                  <a:avLst/>
                </a:prstGeom>
                <a:ln w="19050">
                  <a:solidFill>
                    <a:schemeClr val="tx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</p:grpSp>
      </p:grpSp>
      <p:pic>
        <p:nvPicPr>
          <p:cNvPr id="51" name="Picture 5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6975" y="4943945"/>
            <a:ext cx="4143954" cy="24313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31059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62" y="1286516"/>
            <a:ext cx="9667108" cy="3193643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762" y="4567992"/>
            <a:ext cx="9667108" cy="3176984"/>
          </a:xfrm>
          <a:prstGeom prst="rect">
            <a:avLst/>
          </a:prstGeom>
        </p:spPr>
      </p:pic>
      <p:cxnSp>
        <p:nvCxnSpPr>
          <p:cNvPr id="12" name="Straight Arrow Connector 11"/>
          <p:cNvCxnSpPr/>
          <p:nvPr/>
        </p:nvCxnSpPr>
        <p:spPr>
          <a:xfrm>
            <a:off x="2549392" y="5010733"/>
            <a:ext cx="0" cy="292894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/>
          <p:cNvCxnSpPr/>
          <p:nvPr/>
        </p:nvCxnSpPr>
        <p:spPr>
          <a:xfrm>
            <a:off x="2943976" y="5107561"/>
            <a:ext cx="0" cy="365813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>
            <a:off x="3170785" y="5292036"/>
            <a:ext cx="0" cy="339497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/>
          <p:cNvCxnSpPr/>
          <p:nvPr/>
        </p:nvCxnSpPr>
        <p:spPr>
          <a:xfrm>
            <a:off x="3500123" y="5631533"/>
            <a:ext cx="0" cy="339497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Arrow Connector 16"/>
          <p:cNvCxnSpPr/>
          <p:nvPr/>
        </p:nvCxnSpPr>
        <p:spPr>
          <a:xfrm>
            <a:off x="3792178" y="5453841"/>
            <a:ext cx="0" cy="339497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/>
          <p:nvPr/>
        </p:nvCxnSpPr>
        <p:spPr>
          <a:xfrm>
            <a:off x="4112195" y="5632316"/>
            <a:ext cx="0" cy="339497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/>
          <p:cNvCxnSpPr/>
          <p:nvPr/>
        </p:nvCxnSpPr>
        <p:spPr>
          <a:xfrm>
            <a:off x="5038071" y="5631533"/>
            <a:ext cx="0" cy="339497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/>
          <p:cNvCxnSpPr/>
          <p:nvPr/>
        </p:nvCxnSpPr>
        <p:spPr>
          <a:xfrm>
            <a:off x="5488581" y="5971030"/>
            <a:ext cx="0" cy="339497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/>
          <p:nvPr/>
        </p:nvCxnSpPr>
        <p:spPr>
          <a:xfrm>
            <a:off x="5901807" y="6041598"/>
            <a:ext cx="0" cy="339497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/>
          <p:cNvCxnSpPr/>
          <p:nvPr/>
        </p:nvCxnSpPr>
        <p:spPr>
          <a:xfrm>
            <a:off x="6473488" y="5971029"/>
            <a:ext cx="0" cy="339497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/>
          <p:cNvCxnSpPr/>
          <p:nvPr/>
        </p:nvCxnSpPr>
        <p:spPr>
          <a:xfrm>
            <a:off x="6886715" y="6140777"/>
            <a:ext cx="0" cy="339497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/>
          <p:nvPr/>
        </p:nvCxnSpPr>
        <p:spPr>
          <a:xfrm>
            <a:off x="7439755" y="6140776"/>
            <a:ext cx="0" cy="339497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3170785" y="5107561"/>
            <a:ext cx="1481553" cy="3686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sz="1798" dirty="0">
                <a:solidFill>
                  <a:srgbClr val="FF0000"/>
                </a:solidFill>
              </a:rPr>
              <a:t>Adding H</a:t>
            </a:r>
            <a:r>
              <a:rPr lang="en-US" altLang="zh-TW" sz="1798" baseline="-25000" dirty="0">
                <a:solidFill>
                  <a:srgbClr val="FF0000"/>
                </a:solidFill>
              </a:rPr>
              <a:t>2</a:t>
            </a:r>
            <a:r>
              <a:rPr lang="en-US" altLang="zh-TW" sz="1798" dirty="0">
                <a:solidFill>
                  <a:srgbClr val="FF0000"/>
                </a:solidFill>
              </a:rPr>
              <a:t>O</a:t>
            </a:r>
            <a:r>
              <a:rPr lang="en-US" altLang="zh-TW" sz="1798" baseline="-25000" dirty="0">
                <a:solidFill>
                  <a:srgbClr val="FF0000"/>
                </a:solidFill>
              </a:rPr>
              <a:t>2</a:t>
            </a:r>
            <a:endParaRPr lang="en-US" sz="1798" dirty="0">
              <a:solidFill>
                <a:srgbClr val="FF0000"/>
              </a:solidFill>
            </a:endParaRPr>
          </a:p>
        </p:txBody>
      </p:sp>
      <p:cxnSp>
        <p:nvCxnSpPr>
          <p:cNvPr id="29" name="Straight Arrow Connector 28"/>
          <p:cNvCxnSpPr/>
          <p:nvPr/>
        </p:nvCxnSpPr>
        <p:spPr>
          <a:xfrm>
            <a:off x="2549392" y="1785704"/>
            <a:ext cx="0" cy="445134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/>
          <p:cNvCxnSpPr/>
          <p:nvPr/>
        </p:nvCxnSpPr>
        <p:spPr>
          <a:xfrm>
            <a:off x="2943976" y="2008271"/>
            <a:ext cx="0" cy="445134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3052720" y="1768235"/>
            <a:ext cx="4232235" cy="645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464" indent="-285464">
              <a:buFont typeface="Arial" panose="020B0604020202020204" pitchFamily="34" charset="0"/>
              <a:buChar char="•"/>
            </a:pPr>
            <a:r>
              <a:rPr lang="en-US" sz="1798" dirty="0"/>
              <a:t>Using UV450 for controlling H2O2 is more sensitive than UV300  </a:t>
            </a:r>
            <a:endParaRPr lang="en-US" sz="1798" dirty="0"/>
          </a:p>
        </p:txBody>
      </p:sp>
      <p:sp>
        <p:nvSpPr>
          <p:cNvPr id="36" name="Rounded Rectangle 35"/>
          <p:cNvSpPr/>
          <p:nvPr/>
        </p:nvSpPr>
        <p:spPr>
          <a:xfrm>
            <a:off x="2428220" y="1487435"/>
            <a:ext cx="624500" cy="5909446"/>
          </a:xfrm>
          <a:prstGeom prst="roundRect">
            <a:avLst/>
          </a:prstGeom>
          <a:noFill/>
          <a:ln w="25400"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798"/>
          </a:p>
        </p:txBody>
      </p:sp>
      <p:sp>
        <p:nvSpPr>
          <p:cNvPr id="37" name="TextBox 36"/>
          <p:cNvSpPr txBox="1"/>
          <p:nvPr/>
        </p:nvSpPr>
        <p:spPr>
          <a:xfrm>
            <a:off x="5446904" y="5308703"/>
            <a:ext cx="3239559" cy="645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464" indent="-285464">
              <a:buFont typeface="Arial" panose="020B0604020202020204" pitchFamily="34" charset="0"/>
              <a:buChar char="•"/>
            </a:pPr>
            <a:r>
              <a:rPr lang="en-US" sz="1798" dirty="0"/>
              <a:t>Enable to manual control the automatic pump for 5 h</a:t>
            </a:r>
            <a:endParaRPr lang="en-US" sz="1798" dirty="0"/>
          </a:p>
        </p:txBody>
      </p:sp>
      <p:grpSp>
        <p:nvGrpSpPr>
          <p:cNvPr id="54" name="Group 53"/>
          <p:cNvGrpSpPr/>
          <p:nvPr/>
        </p:nvGrpSpPr>
        <p:grpSpPr>
          <a:xfrm>
            <a:off x="8916082" y="-1787889"/>
            <a:ext cx="7111059" cy="6895451"/>
            <a:chOff x="1295421" y="2145203"/>
            <a:chExt cx="7118474" cy="6902641"/>
          </a:xfrm>
        </p:grpSpPr>
        <p:grpSp>
          <p:nvGrpSpPr>
            <p:cNvPr id="52" name="Group 51"/>
            <p:cNvGrpSpPr/>
            <p:nvPr/>
          </p:nvGrpSpPr>
          <p:grpSpPr>
            <a:xfrm>
              <a:off x="1295421" y="6558477"/>
              <a:ext cx="3400172" cy="2489367"/>
              <a:chOff x="1295421" y="6558477"/>
              <a:chExt cx="3400172" cy="2489367"/>
            </a:xfrm>
          </p:grpSpPr>
          <p:sp>
            <p:nvSpPr>
              <p:cNvPr id="38" name="TextBox 20"/>
              <p:cNvSpPr txBox="1"/>
              <p:nvPr/>
            </p:nvSpPr>
            <p:spPr>
              <a:xfrm>
                <a:off x="2352132" y="8335761"/>
                <a:ext cx="2343461" cy="3539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98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en-US" sz="1698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Methylsuccinyl</a:t>
                </a:r>
                <a:r>
                  <a:rPr lang="en-US" sz="1698" dirty="0">
                    <a:latin typeface="Arial" panose="020B0604020202020204" pitchFamily="34" charset="0"/>
                    <a:cs typeface="Arial" panose="020B0604020202020204" pitchFamily="34" charset="0"/>
                  </a:rPr>
                  <a:t>-CoA</a:t>
                </a:r>
              </a:p>
            </p:txBody>
          </p:sp>
          <p:sp>
            <p:nvSpPr>
              <p:cNvPr id="39" name="TextBox 19"/>
              <p:cNvSpPr txBox="1"/>
              <p:nvPr/>
            </p:nvSpPr>
            <p:spPr>
              <a:xfrm>
                <a:off x="3389944" y="7111594"/>
                <a:ext cx="610025" cy="33855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598" b="1" dirty="0">
                    <a:solidFill>
                      <a:srgbClr val="00B05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Mcd</a:t>
                </a:r>
              </a:p>
            </p:txBody>
          </p:sp>
          <p:sp>
            <p:nvSpPr>
              <p:cNvPr id="40" name="TextBox 25"/>
              <p:cNvSpPr txBox="1"/>
              <p:nvPr/>
            </p:nvSpPr>
            <p:spPr>
              <a:xfrm>
                <a:off x="2058872" y="7468104"/>
                <a:ext cx="994983" cy="3539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98" b="1" dirty="0">
                    <a:solidFill>
                      <a:schemeClr val="accent1">
                        <a:lumMod val="7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FADH</a:t>
                </a:r>
                <a:r>
                  <a:rPr lang="en-US" altLang="zh-CN" sz="1698" b="1" baseline="-25000" dirty="0">
                    <a:solidFill>
                      <a:schemeClr val="accent1">
                        <a:lumMod val="7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2</a:t>
                </a:r>
                <a:endParaRPr lang="en-US" sz="1698" b="1" baseline="-25000" dirty="0">
                  <a:solidFill>
                    <a:schemeClr val="accent1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1" name="Arc 38"/>
              <p:cNvSpPr/>
              <p:nvPr/>
            </p:nvSpPr>
            <p:spPr>
              <a:xfrm rot="18840659">
                <a:off x="2585596" y="7552327"/>
                <a:ext cx="779478" cy="315213"/>
              </a:xfrm>
              <a:prstGeom prst="arc">
                <a:avLst>
                  <a:gd name="adj1" fmla="val 15874890"/>
                  <a:gd name="adj2" fmla="val 5412951"/>
                </a:avLst>
              </a:prstGeom>
              <a:noFill/>
              <a:ln w="28575" cmpd="sng">
                <a:solidFill>
                  <a:schemeClr val="tx1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698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42" name="图片 265"/>
              <p:cNvPicPr>
                <a:picLocks noChangeAspect="1"/>
              </p:cNvPicPr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979508" y="7556774"/>
                <a:ext cx="1379990" cy="741847"/>
              </a:xfrm>
              <a:prstGeom prst="rect">
                <a:avLst/>
              </a:prstGeom>
            </p:spPr>
          </p:pic>
          <p:pic>
            <p:nvPicPr>
              <p:cNvPr id="43" name="图片 268"/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943998" y="6558477"/>
                <a:ext cx="1379990" cy="741847"/>
              </a:xfrm>
              <a:prstGeom prst="rect">
                <a:avLst/>
              </a:prstGeom>
            </p:spPr>
          </p:pic>
          <p:sp>
            <p:nvSpPr>
              <p:cNvPr id="44" name="TextBox 25"/>
              <p:cNvSpPr txBox="1"/>
              <p:nvPr/>
            </p:nvSpPr>
            <p:spPr>
              <a:xfrm>
                <a:off x="2495893" y="7720552"/>
                <a:ext cx="994983" cy="3539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98" b="1" dirty="0">
                    <a:solidFill>
                      <a:schemeClr val="accent1">
                        <a:lumMod val="7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FAD</a:t>
                </a:r>
                <a:r>
                  <a:rPr lang="en-US" sz="1698" b="1" baseline="30000" dirty="0">
                    <a:solidFill>
                      <a:schemeClr val="accent1">
                        <a:lumMod val="7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+</a:t>
                </a:r>
                <a:endParaRPr lang="en-US" sz="1698" b="1" baseline="30000" dirty="0">
                  <a:solidFill>
                    <a:schemeClr val="accent1">
                      <a:lumMod val="75000"/>
                    </a:schemeClr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5" name="Arc 38"/>
              <p:cNvSpPr/>
              <p:nvPr/>
            </p:nvSpPr>
            <p:spPr>
              <a:xfrm rot="18840659">
                <a:off x="2329162" y="7770085"/>
                <a:ext cx="547537" cy="315213"/>
              </a:xfrm>
              <a:prstGeom prst="arc">
                <a:avLst>
                  <a:gd name="adj1" fmla="val 4624538"/>
                  <a:gd name="adj2" fmla="val 18244142"/>
                </a:avLst>
              </a:prstGeom>
              <a:noFill/>
              <a:ln w="28575" cmpd="sng">
                <a:solidFill>
                  <a:schemeClr val="tx1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698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6" name="Arc 38"/>
              <p:cNvSpPr/>
              <p:nvPr/>
            </p:nvSpPr>
            <p:spPr>
              <a:xfrm rot="18840659">
                <a:off x="2021341" y="8129717"/>
                <a:ext cx="462388" cy="315213"/>
              </a:xfrm>
              <a:prstGeom prst="arc">
                <a:avLst>
                  <a:gd name="adj1" fmla="val 16098916"/>
                  <a:gd name="adj2" fmla="val 5618741"/>
                </a:avLst>
              </a:prstGeom>
              <a:noFill/>
              <a:ln w="28575" cmpd="sng">
                <a:solidFill>
                  <a:schemeClr val="tx1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698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7" name="TextBox 16"/>
              <p:cNvSpPr txBox="1"/>
              <p:nvPr/>
            </p:nvSpPr>
            <p:spPr>
              <a:xfrm>
                <a:off x="1663859" y="8109534"/>
                <a:ext cx="574843" cy="6149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98" b="1" dirty="0">
                    <a:solidFill>
                      <a:schemeClr val="accent2">
                        <a:lumMod val="7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 </a:t>
                </a:r>
                <a:r>
                  <a:rPr lang="en-US" altLang="zh-TW" sz="1698" b="1" dirty="0">
                    <a:solidFill>
                      <a:schemeClr val="accent6">
                        <a:lumMod val="50000"/>
                      </a:schemeClr>
                    </a:solidFill>
                  </a:rPr>
                  <a:t>Fc</a:t>
                </a:r>
                <a:r>
                  <a:rPr lang="en-US" altLang="zh-TW" sz="1698" b="1" baseline="30000" dirty="0">
                    <a:solidFill>
                      <a:schemeClr val="accent6">
                        <a:lumMod val="50000"/>
                      </a:schemeClr>
                    </a:solidFill>
                  </a:rPr>
                  <a:t>+</a:t>
                </a:r>
                <a:endParaRPr lang="en-US" sz="1698" b="1" baseline="30000" dirty="0">
                  <a:solidFill>
                    <a:schemeClr val="accent6">
                      <a:lumMod val="50000"/>
                    </a:schemeClr>
                  </a:solidFill>
                </a:endParaRPr>
              </a:p>
            </p:txBody>
          </p:sp>
          <p:sp>
            <p:nvSpPr>
              <p:cNvPr id="48" name="TextBox 16"/>
              <p:cNvSpPr txBox="1"/>
              <p:nvPr/>
            </p:nvSpPr>
            <p:spPr>
              <a:xfrm>
                <a:off x="2023908" y="8307835"/>
                <a:ext cx="499726" cy="61491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98" b="1" dirty="0">
                    <a:solidFill>
                      <a:schemeClr val="accent2">
                        <a:lumMod val="75000"/>
                      </a:schemeClr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 </a:t>
                </a:r>
                <a:r>
                  <a:rPr lang="en-US" altLang="zh-TW" sz="1698" b="1" dirty="0">
                    <a:solidFill>
                      <a:schemeClr val="accent6">
                        <a:lumMod val="50000"/>
                      </a:schemeClr>
                    </a:solidFill>
                  </a:rPr>
                  <a:t>Fc</a:t>
                </a:r>
                <a:endParaRPr lang="en-US" sz="1698" b="1" baseline="-25000" dirty="0">
                  <a:solidFill>
                    <a:schemeClr val="accent6">
                      <a:lumMod val="50000"/>
                    </a:schemeClr>
                  </a:solidFill>
                </a:endParaRPr>
              </a:p>
            </p:txBody>
          </p:sp>
          <p:sp>
            <p:nvSpPr>
              <p:cNvPr id="49" name="Arc 38"/>
              <p:cNvSpPr/>
              <p:nvPr/>
            </p:nvSpPr>
            <p:spPr>
              <a:xfrm rot="18840659">
                <a:off x="1834310" y="8373853"/>
                <a:ext cx="404885" cy="315213"/>
              </a:xfrm>
              <a:prstGeom prst="arc">
                <a:avLst>
                  <a:gd name="adj1" fmla="val 3996051"/>
                  <a:gd name="adj2" fmla="val 17400786"/>
                </a:avLst>
              </a:prstGeom>
              <a:noFill/>
              <a:ln w="28575" cmpd="sng">
                <a:solidFill>
                  <a:schemeClr val="tx1"/>
                </a:solidFill>
                <a:headEnd type="none" w="med" len="med"/>
                <a:tailEnd type="triangl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698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0" name="Arc 38"/>
              <p:cNvSpPr/>
              <p:nvPr/>
            </p:nvSpPr>
            <p:spPr>
              <a:xfrm rot="18840659">
                <a:off x="1580302" y="8687795"/>
                <a:ext cx="404885" cy="315213"/>
              </a:xfrm>
              <a:prstGeom prst="arc">
                <a:avLst>
                  <a:gd name="adj1" fmla="val 14998619"/>
                  <a:gd name="adj2" fmla="val 5145435"/>
                </a:avLst>
              </a:prstGeom>
              <a:noFill/>
              <a:ln w="28575" cmpd="sng">
                <a:solidFill>
                  <a:schemeClr val="tx1"/>
                </a:solidFill>
                <a:headEnd type="triangle" w="med" len="med"/>
                <a:tailEnd type="none" w="med" len="med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US" sz="1698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51" name="TextBox 19"/>
              <p:cNvSpPr txBox="1"/>
              <p:nvPr/>
            </p:nvSpPr>
            <p:spPr>
              <a:xfrm>
                <a:off x="1295421" y="8362182"/>
                <a:ext cx="610025" cy="58474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598" b="1" dirty="0">
                    <a:solidFill>
                      <a:srgbClr val="00B05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HRP</a:t>
                </a:r>
                <a:endParaRPr lang="en-US" sz="1598" b="1" dirty="0">
                  <a:solidFill>
                    <a:srgbClr val="00B05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p:grpSp>
        <p:sp>
          <p:nvSpPr>
            <p:cNvPr id="53" name="Arc 38"/>
            <p:cNvSpPr/>
            <p:nvPr/>
          </p:nvSpPr>
          <p:spPr>
            <a:xfrm>
              <a:off x="2300725" y="2145203"/>
              <a:ext cx="6113170" cy="6114389"/>
            </a:xfrm>
            <a:prstGeom prst="arc">
              <a:avLst>
                <a:gd name="adj1" fmla="val 7786670"/>
                <a:gd name="adj2" fmla="val 8262825"/>
              </a:avLst>
            </a:prstGeom>
            <a:ln w="28575" cmpd="sng">
              <a:solidFill>
                <a:schemeClr val="tx1"/>
              </a:solidFill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US" sz="1698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55" name="TextBox 54"/>
          <p:cNvSpPr txBox="1"/>
          <p:nvPr/>
        </p:nvSpPr>
        <p:spPr>
          <a:xfrm>
            <a:off x="9133348" y="5303626"/>
            <a:ext cx="3078672" cy="17524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464" indent="-285464">
              <a:buFont typeface="Arial" panose="020B0604020202020204" pitchFamily="34" charset="0"/>
              <a:buChar char="•"/>
            </a:pPr>
            <a:r>
              <a:rPr lang="en-US" sz="1798" dirty="0"/>
              <a:t>FAD</a:t>
            </a:r>
            <a:r>
              <a:rPr lang="en-US" sz="1798" baseline="30000" dirty="0"/>
              <a:t>+</a:t>
            </a:r>
            <a:r>
              <a:rPr lang="en-US" sz="1798" dirty="0"/>
              <a:t> absorbs at UV450</a:t>
            </a:r>
          </a:p>
          <a:p>
            <a:pPr marL="285464" indent="-285464">
              <a:buFont typeface="Arial" panose="020B0604020202020204" pitchFamily="34" charset="0"/>
              <a:buChar char="•"/>
            </a:pPr>
            <a:endParaRPr lang="en-US" sz="1798" dirty="0"/>
          </a:p>
          <a:p>
            <a:pPr marL="285464" indent="-285464">
              <a:buFont typeface="Arial" panose="020B0604020202020204" pitchFamily="34" charset="0"/>
              <a:buChar char="•"/>
            </a:pPr>
            <a:r>
              <a:rPr lang="en-US" sz="1798" dirty="0"/>
              <a:t>Fc</a:t>
            </a:r>
            <a:r>
              <a:rPr lang="en-US" sz="1798" baseline="30000" dirty="0"/>
              <a:t> +</a:t>
            </a:r>
            <a:r>
              <a:rPr lang="en-US" sz="1798" dirty="0"/>
              <a:t> absorbs at UV300</a:t>
            </a:r>
          </a:p>
          <a:p>
            <a:pPr marL="285464" indent="-285464">
              <a:buFont typeface="Arial" panose="020B0604020202020204" pitchFamily="34" charset="0"/>
              <a:buChar char="•"/>
            </a:pPr>
            <a:endParaRPr lang="en-US" sz="1798" dirty="0"/>
          </a:p>
          <a:p>
            <a:pPr marL="285464" indent="-285464">
              <a:buFont typeface="Arial" panose="020B0604020202020204" pitchFamily="34" charset="0"/>
              <a:buChar char="•"/>
            </a:pPr>
            <a:r>
              <a:rPr lang="en-US" sz="1798" dirty="0"/>
              <a:t>CoA compounds also absorbs at UV300 </a:t>
            </a:r>
            <a:endParaRPr lang="en-US" sz="1798" dirty="0"/>
          </a:p>
        </p:txBody>
      </p:sp>
    </p:spTree>
    <p:extLst>
      <p:ext uri="{BB962C8B-B14F-4D97-AF65-F5344CB8AC3E}">
        <p14:creationId xmlns:p14="http://schemas.microsoft.com/office/powerpoint/2010/main" val="8953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6542" y="4896071"/>
            <a:ext cx="4597304" cy="2868500"/>
          </a:xfrm>
          <a:prstGeom prst="rect">
            <a:avLst/>
          </a:prstGeom>
        </p:spPr>
      </p:pic>
      <p:grpSp>
        <p:nvGrpSpPr>
          <p:cNvPr id="12" name="群組 11"/>
          <p:cNvGrpSpPr/>
          <p:nvPr/>
        </p:nvGrpSpPr>
        <p:grpSpPr>
          <a:xfrm>
            <a:off x="6031505" y="1693156"/>
            <a:ext cx="5024204" cy="3202915"/>
            <a:chOff x="6193993" y="327312"/>
            <a:chExt cx="5373384" cy="3579855"/>
          </a:xfrm>
        </p:grpSpPr>
        <p:pic>
          <p:nvPicPr>
            <p:cNvPr id="6" name="圖片 5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193993" y="327312"/>
              <a:ext cx="5373384" cy="3579855"/>
            </a:xfrm>
            <a:prstGeom prst="rect">
              <a:avLst/>
            </a:prstGeom>
          </p:spPr>
        </p:pic>
        <p:sp>
          <p:nvSpPr>
            <p:cNvPr id="7" name="文字方塊 6"/>
            <p:cNvSpPr txBox="1"/>
            <p:nvPr/>
          </p:nvSpPr>
          <p:spPr>
            <a:xfrm>
              <a:off x="8775061" y="1362210"/>
              <a:ext cx="2486928" cy="72092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TW" sz="1798" dirty="0"/>
                <a:t>Red Points: Slope &gt; -20</a:t>
              </a:r>
              <a:endParaRPr lang="zh-TW" altLang="en-US" sz="1798" dirty="0"/>
            </a:p>
          </p:txBody>
        </p:sp>
      </p:grpSp>
      <p:sp>
        <p:nvSpPr>
          <p:cNvPr id="11" name="文字方塊 10"/>
          <p:cNvSpPr txBox="1"/>
          <p:nvPr/>
        </p:nvSpPr>
        <p:spPr>
          <a:xfrm>
            <a:off x="3040136" y="2553688"/>
            <a:ext cx="2966139" cy="3689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sz="1798" dirty="0"/>
              <a:t>Red Points: Slope &gt; 0</a:t>
            </a:r>
            <a:endParaRPr lang="zh-TW" altLang="en-US" sz="1798" dirty="0"/>
          </a:p>
        </p:txBody>
      </p:sp>
      <p:grpSp>
        <p:nvGrpSpPr>
          <p:cNvPr id="15" name="群組 14"/>
          <p:cNvGrpSpPr/>
          <p:nvPr/>
        </p:nvGrpSpPr>
        <p:grpSpPr>
          <a:xfrm>
            <a:off x="5603847" y="5300326"/>
            <a:ext cx="6486424" cy="1630372"/>
            <a:chOff x="5609690" y="4162853"/>
            <a:chExt cx="6493188" cy="1632072"/>
          </a:xfrm>
        </p:grpSpPr>
        <p:sp>
          <p:nvSpPr>
            <p:cNvPr id="8" name="矩形 7"/>
            <p:cNvSpPr/>
            <p:nvPr/>
          </p:nvSpPr>
          <p:spPr>
            <a:xfrm>
              <a:off x="5609690" y="4162853"/>
              <a:ext cx="3397084" cy="36901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285464" indent="-285464">
                <a:buFont typeface="Arial" panose="020B0604020202020204" pitchFamily="34" charset="0"/>
                <a:buChar char="•"/>
              </a:pPr>
              <a:r>
                <a:rPr lang="en-US" altLang="zh-TW" sz="1798" dirty="0"/>
                <a:t>Data from  3/15  experiment </a:t>
              </a:r>
            </a:p>
          </p:txBody>
        </p:sp>
        <p:sp>
          <p:nvSpPr>
            <p:cNvPr id="1744" name="矩形 1743"/>
            <p:cNvSpPr/>
            <p:nvPr/>
          </p:nvSpPr>
          <p:spPr>
            <a:xfrm>
              <a:off x="5609690" y="4545546"/>
              <a:ext cx="6423618" cy="922368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marL="285464" indent="-285464">
                <a:buFont typeface="Arial" panose="020B0604020202020204" pitchFamily="34" charset="0"/>
                <a:buChar char="•"/>
              </a:pPr>
              <a:r>
                <a:rPr lang="en-US" altLang="zh-TW" sz="1798" dirty="0"/>
                <a:t>Take the current point and the previous 50 points for linear</a:t>
              </a:r>
              <a:r>
                <a:rPr lang="en-US" altLang="zh-TW" sz="1798" dirty="0"/>
                <a:t/>
              </a:r>
              <a:br>
                <a:rPr lang="en-US" altLang="zh-TW" sz="1798" dirty="0"/>
              </a:br>
              <a:r>
                <a:rPr lang="en-US" altLang="zh-TW" sz="1798" dirty="0"/>
                <a:t>cure fitting </a:t>
              </a:r>
            </a:p>
            <a:p>
              <a:pPr marL="285464" indent="-285464">
                <a:buFont typeface="Arial" panose="020B0604020202020204" pitchFamily="34" charset="0"/>
                <a:buChar char="•"/>
              </a:pPr>
              <a:endParaRPr lang="en-US" altLang="zh-TW" sz="1798" dirty="0"/>
            </a:p>
          </p:txBody>
        </p:sp>
        <p:sp>
          <p:nvSpPr>
            <p:cNvPr id="1745" name="矩形 1744"/>
            <p:cNvSpPr/>
            <p:nvPr/>
          </p:nvSpPr>
          <p:spPr>
            <a:xfrm>
              <a:off x="5609690" y="5149235"/>
              <a:ext cx="6493188" cy="64569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marL="285464" indent="-285464">
                <a:buFont typeface="Arial" panose="020B0604020202020204" pitchFamily="34" charset="0"/>
                <a:buChar char="•"/>
              </a:pPr>
              <a:r>
                <a:rPr lang="en-US" altLang="zh-TW" sz="1798" dirty="0"/>
                <a:t>Turn on the H</a:t>
              </a:r>
              <a:r>
                <a:rPr lang="en-US" altLang="zh-TW" sz="1798" baseline="-25000" dirty="0"/>
                <a:t>2</a:t>
              </a:r>
              <a:r>
                <a:rPr lang="en-US" altLang="zh-TW" sz="1798" dirty="0"/>
                <a:t>O</a:t>
              </a:r>
              <a:r>
                <a:rPr lang="en-US" altLang="zh-TW" sz="1798" baseline="-25000" dirty="0"/>
                <a:t>2</a:t>
              </a:r>
              <a:r>
                <a:rPr lang="en-US" altLang="zh-TW" sz="1798" dirty="0"/>
                <a:t> pump when the slope over a threshold value </a:t>
              </a:r>
            </a:p>
          </p:txBody>
        </p:sp>
      </p:grpSp>
      <p:pic>
        <p:nvPicPr>
          <p:cNvPr id="14" name="圖片 1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0332" y="1627759"/>
            <a:ext cx="5299608" cy="32186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19764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 rotWithShape="1">
          <a:blip r:embed="rId2"/>
          <a:srcRect r="16602"/>
          <a:stretch/>
        </p:blipFill>
        <p:spPr>
          <a:xfrm>
            <a:off x="57867" y="2286000"/>
            <a:ext cx="12121433" cy="55369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86918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/>
          <p:cNvPicPr>
            <a:picLocks noChangeAspect="1"/>
          </p:cNvPicPr>
          <p:nvPr/>
        </p:nvPicPr>
        <p:blipFill rotWithShape="1">
          <a:blip r:embed="rId2"/>
          <a:srcRect t="3706" r="13423" b="4369"/>
          <a:stretch/>
        </p:blipFill>
        <p:spPr>
          <a:xfrm>
            <a:off x="185351" y="778476"/>
            <a:ext cx="11874843" cy="7722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53895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Rectangle 174"/>
          <p:cNvSpPr/>
          <p:nvPr/>
        </p:nvSpPr>
        <p:spPr>
          <a:xfrm>
            <a:off x="2246710" y="1694315"/>
            <a:ext cx="8907522" cy="1012774"/>
          </a:xfrm>
          <a:prstGeom prst="rect">
            <a:avLst/>
          </a:prstGeom>
          <a:solidFill>
            <a:srgbClr val="FFCCFF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345" tIns="45672" rIns="91345" bIns="4567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798"/>
          </a:p>
        </p:txBody>
      </p:sp>
      <p:sp>
        <p:nvSpPr>
          <p:cNvPr id="174" name="Rectangle 173"/>
          <p:cNvSpPr/>
          <p:nvPr/>
        </p:nvSpPr>
        <p:spPr>
          <a:xfrm>
            <a:off x="2254771" y="3129981"/>
            <a:ext cx="4771798" cy="327085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345" tIns="45672" rIns="91345" bIns="4567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798"/>
          </a:p>
        </p:txBody>
      </p:sp>
      <p:sp>
        <p:nvSpPr>
          <p:cNvPr id="80" name="Rectangle 79"/>
          <p:cNvSpPr/>
          <p:nvPr/>
        </p:nvSpPr>
        <p:spPr>
          <a:xfrm>
            <a:off x="7510166" y="3135656"/>
            <a:ext cx="3645239" cy="327085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345" tIns="45672" rIns="91345" bIns="4567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798"/>
          </a:p>
        </p:txBody>
      </p:sp>
      <p:cxnSp>
        <p:nvCxnSpPr>
          <p:cNvPr id="33" name="Elbow Connector 32"/>
          <p:cNvCxnSpPr>
            <a:stCxn id="4" idx="0"/>
            <a:endCxn id="148" idx="0"/>
          </p:cNvCxnSpPr>
          <p:nvPr/>
        </p:nvCxnSpPr>
        <p:spPr>
          <a:xfrm rot="10800000" flipH="1">
            <a:off x="1591953" y="2125431"/>
            <a:ext cx="37107" cy="2451870"/>
          </a:xfrm>
          <a:prstGeom prst="bentConnector3">
            <a:avLst>
              <a:gd name="adj1" fmla="val -2129511"/>
            </a:avLst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Elbow Connector 26"/>
          <p:cNvCxnSpPr>
            <a:stCxn id="159" idx="0"/>
            <a:endCxn id="106" idx="0"/>
          </p:cNvCxnSpPr>
          <p:nvPr/>
        </p:nvCxnSpPr>
        <p:spPr>
          <a:xfrm rot="10800000" flipH="1" flipV="1">
            <a:off x="1611544" y="5816579"/>
            <a:ext cx="8072192" cy="962878"/>
          </a:xfrm>
          <a:prstGeom prst="bentConnector4">
            <a:avLst>
              <a:gd name="adj1" fmla="val -10251"/>
              <a:gd name="adj2" fmla="val 143077"/>
            </a:avLst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圖片 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66624" y="4187469"/>
            <a:ext cx="1671893" cy="1671893"/>
          </a:xfrm>
          <a:prstGeom prst="rect">
            <a:avLst/>
          </a:prstGeom>
        </p:spPr>
      </p:pic>
      <p:cxnSp>
        <p:nvCxnSpPr>
          <p:cNvPr id="10" name="直線接點 9"/>
          <p:cNvCxnSpPr/>
          <p:nvPr/>
        </p:nvCxnSpPr>
        <p:spPr>
          <a:xfrm flipH="1" flipV="1">
            <a:off x="2235231" y="1676960"/>
            <a:ext cx="22401" cy="4731514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" name="直線接點 10"/>
          <p:cNvCxnSpPr/>
          <p:nvPr/>
        </p:nvCxnSpPr>
        <p:spPr>
          <a:xfrm flipH="1">
            <a:off x="2241445" y="6410971"/>
            <a:ext cx="8928135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2" name="直線接點 11"/>
          <p:cNvCxnSpPr/>
          <p:nvPr/>
        </p:nvCxnSpPr>
        <p:spPr>
          <a:xfrm flipV="1">
            <a:off x="11169579" y="1676960"/>
            <a:ext cx="0" cy="4749409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直線接點 12"/>
          <p:cNvCxnSpPr/>
          <p:nvPr/>
        </p:nvCxnSpPr>
        <p:spPr>
          <a:xfrm flipV="1">
            <a:off x="7050896" y="3128287"/>
            <a:ext cx="0" cy="3280187"/>
          </a:xfrm>
          <a:prstGeom prst="line">
            <a:avLst/>
          </a:prstGeom>
          <a:ln w="38100"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" name="直線接點 13"/>
          <p:cNvCxnSpPr/>
          <p:nvPr/>
        </p:nvCxnSpPr>
        <p:spPr>
          <a:xfrm flipV="1">
            <a:off x="7510166" y="3128287"/>
            <a:ext cx="0" cy="3280189"/>
          </a:xfrm>
          <a:prstGeom prst="line">
            <a:avLst/>
          </a:prstGeom>
          <a:ln w="38100"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7" name="矩形 16"/>
          <p:cNvSpPr/>
          <p:nvPr/>
        </p:nvSpPr>
        <p:spPr>
          <a:xfrm>
            <a:off x="1115858" y="4125696"/>
            <a:ext cx="424673" cy="4608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398" dirty="0"/>
              <a:t>e</a:t>
            </a:r>
            <a:r>
              <a:rPr lang="en-US" altLang="zh-TW" sz="2398" baseline="30000" dirty="0"/>
              <a:t>-</a:t>
            </a:r>
            <a:endParaRPr lang="zh-TW" altLang="en-US" sz="2398" baseline="30000" dirty="0"/>
          </a:p>
        </p:txBody>
      </p:sp>
      <p:cxnSp>
        <p:nvCxnSpPr>
          <p:cNvPr id="18" name="直線接點 17"/>
          <p:cNvCxnSpPr/>
          <p:nvPr/>
        </p:nvCxnSpPr>
        <p:spPr>
          <a:xfrm flipH="1">
            <a:off x="1020824" y="4577300"/>
            <a:ext cx="590721" cy="0"/>
          </a:xfrm>
          <a:prstGeom prst="line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4" name="文字方塊 23"/>
          <p:cNvSpPr txBox="1"/>
          <p:nvPr/>
        </p:nvSpPr>
        <p:spPr>
          <a:xfrm>
            <a:off x="8197190" y="4574563"/>
            <a:ext cx="927493" cy="3686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sz="1798" dirty="0"/>
              <a:t>HCOO</a:t>
            </a:r>
            <a:r>
              <a:rPr lang="en-US" altLang="zh-TW" sz="1798" baseline="30000" dirty="0"/>
              <a:t>-</a:t>
            </a:r>
            <a:endParaRPr lang="zh-TW" altLang="en-US" sz="1798" baseline="30000" dirty="0"/>
          </a:p>
        </p:txBody>
      </p:sp>
      <p:grpSp>
        <p:nvGrpSpPr>
          <p:cNvPr id="30" name="群組 29"/>
          <p:cNvGrpSpPr/>
          <p:nvPr/>
        </p:nvGrpSpPr>
        <p:grpSpPr>
          <a:xfrm>
            <a:off x="7123150" y="3229063"/>
            <a:ext cx="314762" cy="314762"/>
            <a:chOff x="10956584" y="2813699"/>
            <a:chExt cx="315090" cy="315090"/>
          </a:xfrm>
        </p:grpSpPr>
        <p:cxnSp>
          <p:nvCxnSpPr>
            <p:cNvPr id="45" name="直線接點 44"/>
            <p:cNvCxnSpPr/>
            <p:nvPr/>
          </p:nvCxnSpPr>
          <p:spPr>
            <a:xfrm>
              <a:off x="11017768" y="2971244"/>
              <a:ext cx="197444" cy="0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29" name="橢圓 28"/>
            <p:cNvSpPr/>
            <p:nvPr/>
          </p:nvSpPr>
          <p:spPr>
            <a:xfrm>
              <a:off x="10956584" y="2813699"/>
              <a:ext cx="315090" cy="31509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798"/>
            </a:p>
          </p:txBody>
        </p:sp>
      </p:grpSp>
      <p:grpSp>
        <p:nvGrpSpPr>
          <p:cNvPr id="51" name="群組 50"/>
          <p:cNvGrpSpPr/>
          <p:nvPr/>
        </p:nvGrpSpPr>
        <p:grpSpPr>
          <a:xfrm>
            <a:off x="7123150" y="3618908"/>
            <a:ext cx="314762" cy="314762"/>
            <a:chOff x="10956584" y="2813699"/>
            <a:chExt cx="315090" cy="315090"/>
          </a:xfrm>
        </p:grpSpPr>
        <p:cxnSp>
          <p:nvCxnSpPr>
            <p:cNvPr id="52" name="直線接點 51"/>
            <p:cNvCxnSpPr/>
            <p:nvPr/>
          </p:nvCxnSpPr>
          <p:spPr>
            <a:xfrm>
              <a:off x="11017768" y="2971244"/>
              <a:ext cx="197444" cy="0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3" name="橢圓 52"/>
            <p:cNvSpPr/>
            <p:nvPr/>
          </p:nvSpPr>
          <p:spPr>
            <a:xfrm>
              <a:off x="10956584" y="2813699"/>
              <a:ext cx="315090" cy="31509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798"/>
            </a:p>
          </p:txBody>
        </p:sp>
      </p:grpSp>
      <p:grpSp>
        <p:nvGrpSpPr>
          <p:cNvPr id="54" name="群組 53"/>
          <p:cNvGrpSpPr/>
          <p:nvPr/>
        </p:nvGrpSpPr>
        <p:grpSpPr>
          <a:xfrm>
            <a:off x="7123150" y="4008752"/>
            <a:ext cx="314762" cy="314762"/>
            <a:chOff x="10956584" y="2813699"/>
            <a:chExt cx="315090" cy="315090"/>
          </a:xfrm>
        </p:grpSpPr>
        <p:cxnSp>
          <p:nvCxnSpPr>
            <p:cNvPr id="55" name="直線接點 54"/>
            <p:cNvCxnSpPr/>
            <p:nvPr/>
          </p:nvCxnSpPr>
          <p:spPr>
            <a:xfrm>
              <a:off x="11017768" y="2971244"/>
              <a:ext cx="197444" cy="0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58" name="橢圓 57"/>
            <p:cNvSpPr/>
            <p:nvPr/>
          </p:nvSpPr>
          <p:spPr>
            <a:xfrm>
              <a:off x="10956584" y="2813699"/>
              <a:ext cx="315090" cy="31509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798"/>
            </a:p>
          </p:txBody>
        </p:sp>
      </p:grpSp>
      <p:grpSp>
        <p:nvGrpSpPr>
          <p:cNvPr id="59" name="群組 58"/>
          <p:cNvGrpSpPr/>
          <p:nvPr/>
        </p:nvGrpSpPr>
        <p:grpSpPr>
          <a:xfrm>
            <a:off x="7123150" y="4398597"/>
            <a:ext cx="314762" cy="314762"/>
            <a:chOff x="10956584" y="2813699"/>
            <a:chExt cx="315090" cy="315090"/>
          </a:xfrm>
        </p:grpSpPr>
        <p:cxnSp>
          <p:nvCxnSpPr>
            <p:cNvPr id="60" name="直線接點 59"/>
            <p:cNvCxnSpPr/>
            <p:nvPr/>
          </p:nvCxnSpPr>
          <p:spPr>
            <a:xfrm>
              <a:off x="11017768" y="2971244"/>
              <a:ext cx="197444" cy="0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61" name="橢圓 60"/>
            <p:cNvSpPr/>
            <p:nvPr/>
          </p:nvSpPr>
          <p:spPr>
            <a:xfrm>
              <a:off x="10956584" y="2813699"/>
              <a:ext cx="315090" cy="31509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798"/>
            </a:p>
          </p:txBody>
        </p:sp>
      </p:grpSp>
      <p:grpSp>
        <p:nvGrpSpPr>
          <p:cNvPr id="62" name="群組 61"/>
          <p:cNvGrpSpPr/>
          <p:nvPr/>
        </p:nvGrpSpPr>
        <p:grpSpPr>
          <a:xfrm>
            <a:off x="7123150" y="4788441"/>
            <a:ext cx="314762" cy="314762"/>
            <a:chOff x="10956584" y="2813699"/>
            <a:chExt cx="315090" cy="315090"/>
          </a:xfrm>
        </p:grpSpPr>
        <p:cxnSp>
          <p:nvCxnSpPr>
            <p:cNvPr id="63" name="直線接點 62"/>
            <p:cNvCxnSpPr/>
            <p:nvPr/>
          </p:nvCxnSpPr>
          <p:spPr>
            <a:xfrm>
              <a:off x="11017768" y="2971244"/>
              <a:ext cx="197444" cy="0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67" name="橢圓 66"/>
            <p:cNvSpPr/>
            <p:nvPr/>
          </p:nvSpPr>
          <p:spPr>
            <a:xfrm>
              <a:off x="10956584" y="2813699"/>
              <a:ext cx="315090" cy="31509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798"/>
            </a:p>
          </p:txBody>
        </p:sp>
      </p:grpSp>
      <p:grpSp>
        <p:nvGrpSpPr>
          <p:cNvPr id="68" name="群組 67"/>
          <p:cNvGrpSpPr/>
          <p:nvPr/>
        </p:nvGrpSpPr>
        <p:grpSpPr>
          <a:xfrm>
            <a:off x="7123150" y="5178286"/>
            <a:ext cx="314762" cy="314762"/>
            <a:chOff x="10956584" y="2813699"/>
            <a:chExt cx="315090" cy="315090"/>
          </a:xfrm>
        </p:grpSpPr>
        <p:cxnSp>
          <p:nvCxnSpPr>
            <p:cNvPr id="69" name="直線接點 68"/>
            <p:cNvCxnSpPr/>
            <p:nvPr/>
          </p:nvCxnSpPr>
          <p:spPr>
            <a:xfrm>
              <a:off x="11017768" y="2971244"/>
              <a:ext cx="197444" cy="0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0" name="橢圓 69"/>
            <p:cNvSpPr/>
            <p:nvPr/>
          </p:nvSpPr>
          <p:spPr>
            <a:xfrm>
              <a:off x="10956584" y="2813699"/>
              <a:ext cx="315090" cy="31509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798"/>
            </a:p>
          </p:txBody>
        </p:sp>
      </p:grpSp>
      <p:grpSp>
        <p:nvGrpSpPr>
          <p:cNvPr id="71" name="群組 70"/>
          <p:cNvGrpSpPr/>
          <p:nvPr/>
        </p:nvGrpSpPr>
        <p:grpSpPr>
          <a:xfrm>
            <a:off x="7123150" y="5568130"/>
            <a:ext cx="314762" cy="314762"/>
            <a:chOff x="10956584" y="2813699"/>
            <a:chExt cx="315090" cy="315090"/>
          </a:xfrm>
        </p:grpSpPr>
        <p:cxnSp>
          <p:nvCxnSpPr>
            <p:cNvPr id="72" name="直線接點 71"/>
            <p:cNvCxnSpPr/>
            <p:nvPr/>
          </p:nvCxnSpPr>
          <p:spPr>
            <a:xfrm>
              <a:off x="11017768" y="2971244"/>
              <a:ext cx="197444" cy="0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3" name="橢圓 72"/>
            <p:cNvSpPr/>
            <p:nvPr/>
          </p:nvSpPr>
          <p:spPr>
            <a:xfrm>
              <a:off x="10956584" y="2813699"/>
              <a:ext cx="315090" cy="31509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798"/>
            </a:p>
          </p:txBody>
        </p:sp>
      </p:grpSp>
      <p:grpSp>
        <p:nvGrpSpPr>
          <p:cNvPr id="75" name="群組 74"/>
          <p:cNvGrpSpPr/>
          <p:nvPr/>
        </p:nvGrpSpPr>
        <p:grpSpPr>
          <a:xfrm>
            <a:off x="7123150" y="5957975"/>
            <a:ext cx="314762" cy="314762"/>
            <a:chOff x="10956584" y="2813699"/>
            <a:chExt cx="315090" cy="315090"/>
          </a:xfrm>
        </p:grpSpPr>
        <p:cxnSp>
          <p:nvCxnSpPr>
            <p:cNvPr id="76" name="直線接點 75"/>
            <p:cNvCxnSpPr/>
            <p:nvPr/>
          </p:nvCxnSpPr>
          <p:spPr>
            <a:xfrm>
              <a:off x="11017768" y="2971244"/>
              <a:ext cx="197444" cy="0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77" name="橢圓 76"/>
            <p:cNvSpPr/>
            <p:nvPr/>
          </p:nvSpPr>
          <p:spPr>
            <a:xfrm>
              <a:off x="10956584" y="2813699"/>
              <a:ext cx="315090" cy="31509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798"/>
            </a:p>
          </p:txBody>
        </p:sp>
      </p:grpSp>
      <p:cxnSp>
        <p:nvCxnSpPr>
          <p:cNvPr id="78" name="直線接點 77"/>
          <p:cNvCxnSpPr/>
          <p:nvPr/>
        </p:nvCxnSpPr>
        <p:spPr>
          <a:xfrm rot="16200000">
            <a:off x="7183467" y="4556223"/>
            <a:ext cx="197238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79" name="直線接點 78"/>
          <p:cNvCxnSpPr/>
          <p:nvPr/>
        </p:nvCxnSpPr>
        <p:spPr>
          <a:xfrm rot="16200000">
            <a:off x="7183467" y="4164425"/>
            <a:ext cx="197238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4" name="直線接點 83"/>
          <p:cNvCxnSpPr/>
          <p:nvPr/>
        </p:nvCxnSpPr>
        <p:spPr>
          <a:xfrm rot="16200000">
            <a:off x="7183467" y="3772627"/>
            <a:ext cx="197238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5" name="直線接點 84"/>
          <p:cNvCxnSpPr/>
          <p:nvPr/>
        </p:nvCxnSpPr>
        <p:spPr>
          <a:xfrm rot="16200000">
            <a:off x="7183467" y="3380828"/>
            <a:ext cx="197238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6" name="直線接點 85"/>
          <p:cNvCxnSpPr/>
          <p:nvPr/>
        </p:nvCxnSpPr>
        <p:spPr>
          <a:xfrm rot="16200000">
            <a:off x="7183467" y="6123419"/>
            <a:ext cx="197238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7" name="直線接點 86"/>
          <p:cNvCxnSpPr/>
          <p:nvPr/>
        </p:nvCxnSpPr>
        <p:spPr>
          <a:xfrm rot="16200000">
            <a:off x="7183467" y="4948022"/>
            <a:ext cx="197238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8" name="直線接點 87"/>
          <p:cNvCxnSpPr/>
          <p:nvPr/>
        </p:nvCxnSpPr>
        <p:spPr>
          <a:xfrm rot="16200000">
            <a:off x="7183467" y="5339820"/>
            <a:ext cx="197238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89" name="直線接點 88"/>
          <p:cNvCxnSpPr/>
          <p:nvPr/>
        </p:nvCxnSpPr>
        <p:spPr>
          <a:xfrm rot="16200000">
            <a:off x="7183467" y="5731619"/>
            <a:ext cx="197238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1" name="矩形 80"/>
          <p:cNvSpPr/>
          <p:nvPr/>
        </p:nvSpPr>
        <p:spPr>
          <a:xfrm>
            <a:off x="5285319" y="5192989"/>
            <a:ext cx="1651295" cy="3378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TW" sz="1598" b="1" dirty="0" err="1"/>
              <a:t>rPS</a:t>
            </a:r>
            <a:r>
              <a:rPr lang="en-US" altLang="zh-TW" sz="1598" b="1" dirty="0"/>
              <a:t>-MCG cycle</a:t>
            </a:r>
            <a:endParaRPr lang="zh-TW" altLang="en-US" sz="1598" b="1" dirty="0"/>
          </a:p>
        </p:txBody>
      </p:sp>
      <p:sp>
        <p:nvSpPr>
          <p:cNvPr id="90" name="文字方塊 89"/>
          <p:cNvSpPr txBox="1"/>
          <p:nvPr/>
        </p:nvSpPr>
        <p:spPr>
          <a:xfrm>
            <a:off x="5626112" y="3385492"/>
            <a:ext cx="927493" cy="3686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sz="1798" dirty="0"/>
              <a:t>HCOO</a:t>
            </a:r>
            <a:r>
              <a:rPr lang="en-US" altLang="zh-TW" sz="1798" baseline="30000" dirty="0"/>
              <a:t>-</a:t>
            </a:r>
            <a:endParaRPr lang="zh-TW" altLang="en-US" sz="1798" baseline="30000" dirty="0"/>
          </a:p>
        </p:txBody>
      </p:sp>
      <p:cxnSp>
        <p:nvCxnSpPr>
          <p:cNvPr id="91" name="直線接點 90"/>
          <p:cNvCxnSpPr/>
          <p:nvPr/>
        </p:nvCxnSpPr>
        <p:spPr>
          <a:xfrm rot="5400000" flipV="1">
            <a:off x="5244760" y="3197242"/>
            <a:ext cx="0" cy="743372"/>
          </a:xfrm>
          <a:prstGeom prst="line">
            <a:avLst/>
          </a:prstGeom>
          <a:ln w="28575">
            <a:headEnd type="triangl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2" name="文字方塊 91"/>
          <p:cNvSpPr txBox="1"/>
          <p:nvPr/>
        </p:nvSpPr>
        <p:spPr>
          <a:xfrm>
            <a:off x="3789732" y="3385492"/>
            <a:ext cx="1145274" cy="3686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sz="1798" dirty="0"/>
              <a:t>NAD(P)H</a:t>
            </a:r>
            <a:endParaRPr lang="zh-TW" altLang="en-US" sz="1798" baseline="-25000" dirty="0"/>
          </a:p>
        </p:txBody>
      </p:sp>
      <p:sp>
        <p:nvSpPr>
          <p:cNvPr id="93" name="文字方塊 92"/>
          <p:cNvSpPr txBox="1"/>
          <p:nvPr/>
        </p:nvSpPr>
        <p:spPr>
          <a:xfrm>
            <a:off x="4988367" y="3598956"/>
            <a:ext cx="581605" cy="3686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sz="1798" dirty="0" err="1"/>
              <a:t>Fdh</a:t>
            </a:r>
            <a:endParaRPr lang="zh-TW" altLang="en-US" sz="1798" baseline="-25000" dirty="0"/>
          </a:p>
        </p:txBody>
      </p:sp>
      <p:sp>
        <p:nvSpPr>
          <p:cNvPr id="96" name="文字方塊 95"/>
          <p:cNvSpPr txBox="1"/>
          <p:nvPr/>
        </p:nvSpPr>
        <p:spPr>
          <a:xfrm>
            <a:off x="10275164" y="4572558"/>
            <a:ext cx="615232" cy="3686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sz="1798" dirty="0"/>
              <a:t>CO</a:t>
            </a:r>
            <a:r>
              <a:rPr lang="en-US" altLang="zh-TW" sz="1798" baseline="-25000" dirty="0"/>
              <a:t>2</a:t>
            </a:r>
            <a:endParaRPr lang="zh-TW" altLang="en-US" sz="1798" baseline="-25000" dirty="0"/>
          </a:p>
        </p:txBody>
      </p:sp>
      <p:sp>
        <p:nvSpPr>
          <p:cNvPr id="101" name="文字方塊 100"/>
          <p:cNvSpPr txBox="1"/>
          <p:nvPr/>
        </p:nvSpPr>
        <p:spPr>
          <a:xfrm>
            <a:off x="9397800" y="4380617"/>
            <a:ext cx="581605" cy="3686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sz="1798" dirty="0" err="1"/>
              <a:t>Fdh</a:t>
            </a:r>
            <a:endParaRPr lang="zh-TW" altLang="en-US" sz="1798" baseline="-25000" dirty="0"/>
          </a:p>
        </p:txBody>
      </p:sp>
      <p:sp>
        <p:nvSpPr>
          <p:cNvPr id="94" name="文字方塊 93"/>
          <p:cNvSpPr txBox="1"/>
          <p:nvPr/>
        </p:nvSpPr>
        <p:spPr>
          <a:xfrm>
            <a:off x="3070518" y="1926144"/>
            <a:ext cx="2016399" cy="3686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sz="1798" dirty="0"/>
              <a:t>Counter electrode</a:t>
            </a:r>
            <a:endParaRPr lang="zh-TW" altLang="en-US" sz="1798" baseline="-25000" dirty="0"/>
          </a:p>
        </p:txBody>
      </p:sp>
      <p:pic>
        <p:nvPicPr>
          <p:cNvPr id="82" name="圖片 8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16619" y="4982363"/>
            <a:ext cx="2834247" cy="857832"/>
          </a:xfrm>
          <a:prstGeom prst="rect">
            <a:avLst/>
          </a:prstGeom>
        </p:spPr>
      </p:pic>
      <p:cxnSp>
        <p:nvCxnSpPr>
          <p:cNvPr id="105" name="直線接點 104"/>
          <p:cNvCxnSpPr/>
          <p:nvPr/>
        </p:nvCxnSpPr>
        <p:spPr>
          <a:xfrm rot="5400000" flipV="1">
            <a:off x="7197017" y="1211662"/>
            <a:ext cx="0" cy="3847988"/>
          </a:xfrm>
          <a:prstGeom prst="line">
            <a:avLst/>
          </a:prstGeom>
          <a:ln w="38100"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6" name="矩形 105"/>
          <p:cNvSpPr/>
          <p:nvPr/>
        </p:nvSpPr>
        <p:spPr>
          <a:xfrm rot="10800000">
            <a:off x="9542687" y="5664619"/>
            <a:ext cx="282098" cy="1114838"/>
          </a:xfrm>
          <a:prstGeom prst="rect">
            <a:avLst/>
          </a:prstGeom>
          <a:solidFill>
            <a:schemeClr val="accent3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798"/>
          </a:p>
        </p:txBody>
      </p:sp>
      <p:sp>
        <p:nvSpPr>
          <p:cNvPr id="109" name="矩形 108"/>
          <p:cNvSpPr/>
          <p:nvPr/>
        </p:nvSpPr>
        <p:spPr>
          <a:xfrm>
            <a:off x="1011610" y="5806973"/>
            <a:ext cx="424673" cy="4608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398" dirty="0"/>
              <a:t>e</a:t>
            </a:r>
            <a:r>
              <a:rPr lang="en-US" altLang="zh-TW" sz="2398" baseline="30000" dirty="0"/>
              <a:t>-</a:t>
            </a:r>
            <a:endParaRPr lang="zh-TW" altLang="en-US" sz="2398" baseline="30000" dirty="0"/>
          </a:p>
        </p:txBody>
      </p:sp>
      <p:cxnSp>
        <p:nvCxnSpPr>
          <p:cNvPr id="111" name="直線接點 110"/>
          <p:cNvCxnSpPr/>
          <p:nvPr/>
        </p:nvCxnSpPr>
        <p:spPr>
          <a:xfrm rot="5400000">
            <a:off x="1247493" y="5691241"/>
            <a:ext cx="5092" cy="260676"/>
          </a:xfrm>
          <a:prstGeom prst="line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13" name="直線接點 112"/>
          <p:cNvCxnSpPr/>
          <p:nvPr/>
        </p:nvCxnSpPr>
        <p:spPr>
          <a:xfrm rot="5400000" flipV="1">
            <a:off x="7191270" y="791305"/>
            <a:ext cx="0" cy="3847988"/>
          </a:xfrm>
          <a:prstGeom prst="line">
            <a:avLst/>
          </a:prstGeom>
          <a:ln w="38100">
            <a:prstDash val="sys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grpSp>
        <p:nvGrpSpPr>
          <p:cNvPr id="114" name="群組 113"/>
          <p:cNvGrpSpPr/>
          <p:nvPr/>
        </p:nvGrpSpPr>
        <p:grpSpPr>
          <a:xfrm>
            <a:off x="5440134" y="2764412"/>
            <a:ext cx="314762" cy="314762"/>
            <a:chOff x="10956584" y="2813699"/>
            <a:chExt cx="315090" cy="315090"/>
          </a:xfrm>
        </p:grpSpPr>
        <p:cxnSp>
          <p:nvCxnSpPr>
            <p:cNvPr id="115" name="直線接點 114"/>
            <p:cNvCxnSpPr/>
            <p:nvPr/>
          </p:nvCxnSpPr>
          <p:spPr>
            <a:xfrm>
              <a:off x="11017768" y="2971244"/>
              <a:ext cx="197444" cy="0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16" name="橢圓 115"/>
            <p:cNvSpPr/>
            <p:nvPr/>
          </p:nvSpPr>
          <p:spPr>
            <a:xfrm>
              <a:off x="10956584" y="2813699"/>
              <a:ext cx="315090" cy="31509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798"/>
            </a:p>
          </p:txBody>
        </p:sp>
      </p:grpSp>
      <p:grpSp>
        <p:nvGrpSpPr>
          <p:cNvPr id="117" name="群組 116"/>
          <p:cNvGrpSpPr/>
          <p:nvPr/>
        </p:nvGrpSpPr>
        <p:grpSpPr>
          <a:xfrm>
            <a:off x="5871390" y="2769215"/>
            <a:ext cx="314762" cy="314762"/>
            <a:chOff x="10956584" y="2813699"/>
            <a:chExt cx="315090" cy="315090"/>
          </a:xfrm>
        </p:grpSpPr>
        <p:cxnSp>
          <p:nvCxnSpPr>
            <p:cNvPr id="118" name="直線接點 117"/>
            <p:cNvCxnSpPr/>
            <p:nvPr/>
          </p:nvCxnSpPr>
          <p:spPr>
            <a:xfrm>
              <a:off x="11017768" y="2971244"/>
              <a:ext cx="197444" cy="0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19" name="橢圓 118"/>
            <p:cNvSpPr/>
            <p:nvPr/>
          </p:nvSpPr>
          <p:spPr>
            <a:xfrm>
              <a:off x="10956584" y="2813699"/>
              <a:ext cx="315090" cy="31509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798"/>
            </a:p>
          </p:txBody>
        </p:sp>
      </p:grpSp>
      <p:grpSp>
        <p:nvGrpSpPr>
          <p:cNvPr id="120" name="群組 119"/>
          <p:cNvGrpSpPr/>
          <p:nvPr/>
        </p:nvGrpSpPr>
        <p:grpSpPr>
          <a:xfrm>
            <a:off x="6302646" y="2760402"/>
            <a:ext cx="314762" cy="314762"/>
            <a:chOff x="10956584" y="2813699"/>
            <a:chExt cx="315090" cy="315090"/>
          </a:xfrm>
        </p:grpSpPr>
        <p:cxnSp>
          <p:nvCxnSpPr>
            <p:cNvPr id="121" name="直線接點 120"/>
            <p:cNvCxnSpPr/>
            <p:nvPr/>
          </p:nvCxnSpPr>
          <p:spPr>
            <a:xfrm>
              <a:off x="11017768" y="2971244"/>
              <a:ext cx="197444" cy="0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22" name="橢圓 121"/>
            <p:cNvSpPr/>
            <p:nvPr/>
          </p:nvSpPr>
          <p:spPr>
            <a:xfrm>
              <a:off x="10956584" y="2813699"/>
              <a:ext cx="315090" cy="31509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798"/>
            </a:p>
          </p:txBody>
        </p:sp>
      </p:grpSp>
      <p:grpSp>
        <p:nvGrpSpPr>
          <p:cNvPr id="123" name="群組 122"/>
          <p:cNvGrpSpPr/>
          <p:nvPr/>
        </p:nvGrpSpPr>
        <p:grpSpPr>
          <a:xfrm>
            <a:off x="6705321" y="2759529"/>
            <a:ext cx="314762" cy="314762"/>
            <a:chOff x="10956584" y="2813699"/>
            <a:chExt cx="315090" cy="315090"/>
          </a:xfrm>
        </p:grpSpPr>
        <p:cxnSp>
          <p:nvCxnSpPr>
            <p:cNvPr id="124" name="直線接點 123"/>
            <p:cNvCxnSpPr/>
            <p:nvPr/>
          </p:nvCxnSpPr>
          <p:spPr>
            <a:xfrm>
              <a:off x="11017768" y="2971244"/>
              <a:ext cx="197444" cy="0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25" name="橢圓 124"/>
            <p:cNvSpPr/>
            <p:nvPr/>
          </p:nvSpPr>
          <p:spPr>
            <a:xfrm>
              <a:off x="10956584" y="2813699"/>
              <a:ext cx="315090" cy="31509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798"/>
            </a:p>
          </p:txBody>
        </p:sp>
      </p:grpSp>
      <p:grpSp>
        <p:nvGrpSpPr>
          <p:cNvPr id="126" name="群組 125"/>
          <p:cNvGrpSpPr/>
          <p:nvPr/>
        </p:nvGrpSpPr>
        <p:grpSpPr>
          <a:xfrm>
            <a:off x="7136577" y="2764332"/>
            <a:ext cx="314762" cy="314762"/>
            <a:chOff x="10956584" y="2813699"/>
            <a:chExt cx="315090" cy="315090"/>
          </a:xfrm>
        </p:grpSpPr>
        <p:cxnSp>
          <p:nvCxnSpPr>
            <p:cNvPr id="127" name="直線接點 126"/>
            <p:cNvCxnSpPr/>
            <p:nvPr/>
          </p:nvCxnSpPr>
          <p:spPr>
            <a:xfrm>
              <a:off x="11017768" y="2971244"/>
              <a:ext cx="197444" cy="0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28" name="橢圓 127"/>
            <p:cNvSpPr/>
            <p:nvPr/>
          </p:nvSpPr>
          <p:spPr>
            <a:xfrm>
              <a:off x="10956584" y="2813699"/>
              <a:ext cx="315090" cy="31509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798"/>
            </a:p>
          </p:txBody>
        </p:sp>
      </p:grpSp>
      <p:grpSp>
        <p:nvGrpSpPr>
          <p:cNvPr id="129" name="群組 128"/>
          <p:cNvGrpSpPr/>
          <p:nvPr/>
        </p:nvGrpSpPr>
        <p:grpSpPr>
          <a:xfrm>
            <a:off x="7567833" y="2755519"/>
            <a:ext cx="314762" cy="314762"/>
            <a:chOff x="10956584" y="2813699"/>
            <a:chExt cx="315090" cy="315090"/>
          </a:xfrm>
        </p:grpSpPr>
        <p:cxnSp>
          <p:nvCxnSpPr>
            <p:cNvPr id="130" name="直線接點 129"/>
            <p:cNvCxnSpPr/>
            <p:nvPr/>
          </p:nvCxnSpPr>
          <p:spPr>
            <a:xfrm>
              <a:off x="11017768" y="2971244"/>
              <a:ext cx="197444" cy="0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31" name="橢圓 130"/>
            <p:cNvSpPr/>
            <p:nvPr/>
          </p:nvSpPr>
          <p:spPr>
            <a:xfrm>
              <a:off x="10956584" y="2813699"/>
              <a:ext cx="315090" cy="31509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798"/>
            </a:p>
          </p:txBody>
        </p:sp>
      </p:grpSp>
      <p:grpSp>
        <p:nvGrpSpPr>
          <p:cNvPr id="132" name="群組 131"/>
          <p:cNvGrpSpPr/>
          <p:nvPr/>
        </p:nvGrpSpPr>
        <p:grpSpPr>
          <a:xfrm>
            <a:off x="7938493" y="2753966"/>
            <a:ext cx="314762" cy="314762"/>
            <a:chOff x="10956584" y="2813699"/>
            <a:chExt cx="315090" cy="315090"/>
          </a:xfrm>
        </p:grpSpPr>
        <p:cxnSp>
          <p:nvCxnSpPr>
            <p:cNvPr id="133" name="直線接點 132"/>
            <p:cNvCxnSpPr/>
            <p:nvPr/>
          </p:nvCxnSpPr>
          <p:spPr>
            <a:xfrm>
              <a:off x="11017768" y="2971244"/>
              <a:ext cx="197444" cy="0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34" name="橢圓 133"/>
            <p:cNvSpPr/>
            <p:nvPr/>
          </p:nvSpPr>
          <p:spPr>
            <a:xfrm>
              <a:off x="10956584" y="2813699"/>
              <a:ext cx="315090" cy="31509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798"/>
            </a:p>
          </p:txBody>
        </p:sp>
      </p:grpSp>
      <p:grpSp>
        <p:nvGrpSpPr>
          <p:cNvPr id="135" name="群組 134"/>
          <p:cNvGrpSpPr/>
          <p:nvPr/>
        </p:nvGrpSpPr>
        <p:grpSpPr>
          <a:xfrm>
            <a:off x="8369749" y="2758769"/>
            <a:ext cx="314762" cy="314762"/>
            <a:chOff x="10956584" y="2813699"/>
            <a:chExt cx="315090" cy="315090"/>
          </a:xfrm>
        </p:grpSpPr>
        <p:cxnSp>
          <p:nvCxnSpPr>
            <p:cNvPr id="136" name="直線接點 135"/>
            <p:cNvCxnSpPr/>
            <p:nvPr/>
          </p:nvCxnSpPr>
          <p:spPr>
            <a:xfrm>
              <a:off x="11017768" y="2971244"/>
              <a:ext cx="197444" cy="0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37" name="橢圓 136"/>
            <p:cNvSpPr/>
            <p:nvPr/>
          </p:nvSpPr>
          <p:spPr>
            <a:xfrm>
              <a:off x="10956584" y="2813699"/>
              <a:ext cx="315090" cy="31509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798"/>
            </a:p>
          </p:txBody>
        </p:sp>
      </p:grpSp>
      <p:grpSp>
        <p:nvGrpSpPr>
          <p:cNvPr id="138" name="群組 137"/>
          <p:cNvGrpSpPr/>
          <p:nvPr/>
        </p:nvGrpSpPr>
        <p:grpSpPr>
          <a:xfrm>
            <a:off x="8801005" y="2749956"/>
            <a:ext cx="314762" cy="314762"/>
            <a:chOff x="10956584" y="2813699"/>
            <a:chExt cx="315090" cy="315090"/>
          </a:xfrm>
        </p:grpSpPr>
        <p:cxnSp>
          <p:nvCxnSpPr>
            <p:cNvPr id="139" name="直線接點 138"/>
            <p:cNvCxnSpPr/>
            <p:nvPr/>
          </p:nvCxnSpPr>
          <p:spPr>
            <a:xfrm>
              <a:off x="11017768" y="2971244"/>
              <a:ext cx="197444" cy="0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40" name="橢圓 139"/>
            <p:cNvSpPr/>
            <p:nvPr/>
          </p:nvSpPr>
          <p:spPr>
            <a:xfrm>
              <a:off x="10956584" y="2813699"/>
              <a:ext cx="315090" cy="31509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TW" altLang="en-US" sz="1798"/>
            </a:p>
          </p:txBody>
        </p:sp>
      </p:grpSp>
      <p:cxnSp>
        <p:nvCxnSpPr>
          <p:cNvPr id="141" name="直線接點 140"/>
          <p:cNvCxnSpPr/>
          <p:nvPr/>
        </p:nvCxnSpPr>
        <p:spPr>
          <a:xfrm flipH="1">
            <a:off x="2257632" y="2722615"/>
            <a:ext cx="3026023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2" name="直線接點 141"/>
          <p:cNvCxnSpPr/>
          <p:nvPr/>
        </p:nvCxnSpPr>
        <p:spPr>
          <a:xfrm flipH="1">
            <a:off x="2257632" y="3135656"/>
            <a:ext cx="3026023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3" name="直線接點 142"/>
          <p:cNvCxnSpPr/>
          <p:nvPr/>
        </p:nvCxnSpPr>
        <p:spPr>
          <a:xfrm flipH="1">
            <a:off x="9096812" y="2722615"/>
            <a:ext cx="2088116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4" name="直線接點 143"/>
          <p:cNvCxnSpPr/>
          <p:nvPr/>
        </p:nvCxnSpPr>
        <p:spPr>
          <a:xfrm flipH="1">
            <a:off x="9096812" y="3135656"/>
            <a:ext cx="2088116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5" name="直線接點 144"/>
          <p:cNvCxnSpPr/>
          <p:nvPr/>
        </p:nvCxnSpPr>
        <p:spPr>
          <a:xfrm flipV="1">
            <a:off x="5349778" y="2681422"/>
            <a:ext cx="0" cy="446864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46" name="直線接點 145"/>
          <p:cNvCxnSpPr/>
          <p:nvPr/>
        </p:nvCxnSpPr>
        <p:spPr>
          <a:xfrm flipV="1">
            <a:off x="9211598" y="2742259"/>
            <a:ext cx="0" cy="386027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8" name="矩形 147"/>
          <p:cNvSpPr/>
          <p:nvPr/>
        </p:nvSpPr>
        <p:spPr>
          <a:xfrm rot="16200000">
            <a:off x="2213688" y="1418476"/>
            <a:ext cx="244650" cy="1413906"/>
          </a:xfrm>
          <a:prstGeom prst="rect">
            <a:avLst/>
          </a:prstGeom>
          <a:solidFill>
            <a:schemeClr val="accent3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798"/>
          </a:p>
        </p:txBody>
      </p:sp>
      <p:cxnSp>
        <p:nvCxnSpPr>
          <p:cNvPr id="149" name="直線接點 148"/>
          <p:cNvCxnSpPr/>
          <p:nvPr/>
        </p:nvCxnSpPr>
        <p:spPr>
          <a:xfrm flipH="1">
            <a:off x="2235232" y="1686186"/>
            <a:ext cx="8928135" cy="0"/>
          </a:xfrm>
          <a:prstGeom prst="line">
            <a:avLst/>
          </a:prstGeom>
          <a:ln w="381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2" name="矩形 151"/>
          <p:cNvSpPr/>
          <p:nvPr/>
        </p:nvSpPr>
        <p:spPr>
          <a:xfrm>
            <a:off x="1125353" y="2064499"/>
            <a:ext cx="424673" cy="4608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398" dirty="0"/>
              <a:t>e</a:t>
            </a:r>
            <a:r>
              <a:rPr lang="en-US" altLang="zh-TW" sz="2398" baseline="30000" dirty="0"/>
              <a:t>-</a:t>
            </a:r>
            <a:endParaRPr lang="zh-TW" altLang="en-US" sz="2398" baseline="30000" dirty="0"/>
          </a:p>
        </p:txBody>
      </p:sp>
      <p:cxnSp>
        <p:nvCxnSpPr>
          <p:cNvPr id="153" name="直線接點 152"/>
          <p:cNvCxnSpPr/>
          <p:nvPr/>
        </p:nvCxnSpPr>
        <p:spPr>
          <a:xfrm flipV="1">
            <a:off x="1045614" y="2128881"/>
            <a:ext cx="564803" cy="0"/>
          </a:xfrm>
          <a:prstGeom prst="line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5" name="文字方塊 154"/>
          <p:cNvSpPr txBox="1"/>
          <p:nvPr/>
        </p:nvSpPr>
        <p:spPr>
          <a:xfrm>
            <a:off x="2239215" y="4002995"/>
            <a:ext cx="2037857" cy="3686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sz="1798" dirty="0"/>
              <a:t>Working electrode</a:t>
            </a:r>
            <a:endParaRPr lang="zh-TW" altLang="en-US" sz="1798" baseline="-25000" dirty="0"/>
          </a:p>
        </p:txBody>
      </p:sp>
      <p:sp>
        <p:nvSpPr>
          <p:cNvPr id="158" name="文字方塊 157"/>
          <p:cNvSpPr txBox="1"/>
          <p:nvPr/>
        </p:nvSpPr>
        <p:spPr>
          <a:xfrm>
            <a:off x="9868468" y="6549207"/>
            <a:ext cx="2037857" cy="3686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sz="1798" dirty="0"/>
              <a:t>Working electrode</a:t>
            </a:r>
            <a:endParaRPr lang="zh-TW" altLang="en-US" sz="1798" baseline="-25000" dirty="0"/>
          </a:p>
        </p:txBody>
      </p:sp>
      <p:sp>
        <p:nvSpPr>
          <p:cNvPr id="159" name="矩形 158"/>
          <p:cNvSpPr/>
          <p:nvPr/>
        </p:nvSpPr>
        <p:spPr>
          <a:xfrm rot="16200000">
            <a:off x="2177557" y="5119422"/>
            <a:ext cx="262290" cy="1394314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798"/>
          </a:p>
        </p:txBody>
      </p:sp>
      <p:sp>
        <p:nvSpPr>
          <p:cNvPr id="167" name="文字方塊 166"/>
          <p:cNvSpPr txBox="1"/>
          <p:nvPr/>
        </p:nvSpPr>
        <p:spPr>
          <a:xfrm>
            <a:off x="2193795" y="6037565"/>
            <a:ext cx="2016399" cy="3686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TW" sz="1798" dirty="0"/>
              <a:t>Counter electrode</a:t>
            </a:r>
            <a:endParaRPr lang="zh-TW" altLang="en-US" sz="1798" baseline="-25000" dirty="0"/>
          </a:p>
        </p:txBody>
      </p:sp>
      <p:cxnSp>
        <p:nvCxnSpPr>
          <p:cNvPr id="150" name="直線接點 149"/>
          <p:cNvCxnSpPr/>
          <p:nvPr/>
        </p:nvCxnSpPr>
        <p:spPr>
          <a:xfrm flipV="1">
            <a:off x="9683738" y="6866425"/>
            <a:ext cx="5092" cy="260676"/>
          </a:xfrm>
          <a:prstGeom prst="line">
            <a:avLst/>
          </a:prstGeom>
          <a:ln w="28575">
            <a:headEnd type="none" w="med" len="med"/>
            <a:tailEnd type="triangl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54" name="矩形 153"/>
          <p:cNvSpPr/>
          <p:nvPr/>
        </p:nvSpPr>
        <p:spPr>
          <a:xfrm>
            <a:off x="9222613" y="6743596"/>
            <a:ext cx="424673" cy="4608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2398" dirty="0"/>
              <a:t>e</a:t>
            </a:r>
            <a:r>
              <a:rPr lang="en-US" altLang="zh-TW" sz="2398" baseline="30000" dirty="0"/>
              <a:t>-</a:t>
            </a:r>
            <a:endParaRPr lang="zh-TW" altLang="en-US" sz="2398" baseline="30000" dirty="0"/>
          </a:p>
        </p:txBody>
      </p:sp>
      <p:sp>
        <p:nvSpPr>
          <p:cNvPr id="156" name="矩形 155"/>
          <p:cNvSpPr/>
          <p:nvPr/>
        </p:nvSpPr>
        <p:spPr>
          <a:xfrm>
            <a:off x="8965935" y="5056215"/>
            <a:ext cx="812196" cy="36862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798" dirty="0"/>
              <a:t>2 MV</a:t>
            </a:r>
            <a:r>
              <a:rPr lang="en-US" altLang="zh-TW" sz="1798" baseline="30000" dirty="0"/>
              <a:t>+</a:t>
            </a:r>
            <a:endParaRPr lang="zh-TW" altLang="en-US" sz="1798" dirty="0"/>
          </a:p>
        </p:txBody>
      </p:sp>
      <p:cxnSp>
        <p:nvCxnSpPr>
          <p:cNvPr id="157" name="直線接點 156"/>
          <p:cNvCxnSpPr/>
          <p:nvPr/>
        </p:nvCxnSpPr>
        <p:spPr>
          <a:xfrm>
            <a:off x="8976980" y="4762284"/>
            <a:ext cx="1316715" cy="0"/>
          </a:xfrm>
          <a:prstGeom prst="line">
            <a:avLst/>
          </a:prstGeom>
          <a:ln w="28575">
            <a:headEnd type="triangl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2" name="矩形 161"/>
          <p:cNvSpPr/>
          <p:nvPr/>
        </p:nvSpPr>
        <p:spPr>
          <a:xfrm>
            <a:off x="8367412" y="7322883"/>
            <a:ext cx="3912377" cy="645017"/>
          </a:xfrm>
          <a:prstGeom prst="rect">
            <a:avLst/>
          </a:prstGeom>
          <a:ln w="9525">
            <a:noFill/>
          </a:ln>
        </p:spPr>
        <p:txBody>
          <a:bodyPr wrap="none">
            <a:spAutoFit/>
          </a:bodyPr>
          <a:lstStyle/>
          <a:p>
            <a:pPr algn="ctr"/>
            <a:r>
              <a:rPr lang="en-US" altLang="zh-TW" sz="1798" b="1" dirty="0"/>
              <a:t>AEM:</a:t>
            </a:r>
            <a:r>
              <a:rPr lang="zh-TW" altLang="en-US" sz="1798" b="1" dirty="0"/>
              <a:t> </a:t>
            </a:r>
            <a:r>
              <a:rPr lang="en-US" altLang="zh-TW" sz="1798" b="1" dirty="0"/>
              <a:t>Anion exchange membrane</a:t>
            </a:r>
          </a:p>
          <a:p>
            <a:pPr algn="ctr"/>
            <a:r>
              <a:rPr lang="en-US" altLang="zh-TW" sz="1798" b="1" dirty="0"/>
              <a:t>CEM:</a:t>
            </a:r>
            <a:r>
              <a:rPr lang="zh-TW" altLang="en-US" sz="1798" b="1" dirty="0"/>
              <a:t> </a:t>
            </a:r>
            <a:r>
              <a:rPr lang="en-US" altLang="zh-TW" sz="1798" b="1" dirty="0"/>
              <a:t>Cation exchange membrane</a:t>
            </a:r>
          </a:p>
        </p:txBody>
      </p:sp>
      <p:sp>
        <p:nvSpPr>
          <p:cNvPr id="163" name="弧形 162"/>
          <p:cNvSpPr/>
          <p:nvPr/>
        </p:nvSpPr>
        <p:spPr>
          <a:xfrm rot="5400000" flipH="1">
            <a:off x="9331532" y="4711025"/>
            <a:ext cx="730760" cy="856635"/>
          </a:xfrm>
          <a:prstGeom prst="arc">
            <a:avLst>
              <a:gd name="adj1" fmla="val 16850634"/>
              <a:gd name="adj2" fmla="val 4743222"/>
            </a:avLst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sz="1798"/>
          </a:p>
        </p:txBody>
      </p:sp>
      <p:sp>
        <p:nvSpPr>
          <p:cNvPr id="164" name="矩形 163"/>
          <p:cNvSpPr/>
          <p:nvPr/>
        </p:nvSpPr>
        <p:spPr>
          <a:xfrm>
            <a:off x="9864222" y="5038640"/>
            <a:ext cx="897068" cy="36862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798" dirty="0"/>
              <a:t>2 MV</a:t>
            </a:r>
            <a:r>
              <a:rPr lang="en-US" altLang="zh-TW" sz="1798" baseline="30000" dirty="0"/>
              <a:t>2+</a:t>
            </a:r>
            <a:endParaRPr lang="zh-TW" altLang="en-US" sz="1798" dirty="0"/>
          </a:p>
        </p:txBody>
      </p:sp>
      <p:sp>
        <p:nvSpPr>
          <p:cNvPr id="22" name="矩形 21"/>
          <p:cNvSpPr/>
          <p:nvPr/>
        </p:nvSpPr>
        <p:spPr>
          <a:xfrm>
            <a:off x="6930181" y="6440493"/>
            <a:ext cx="752947" cy="39937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998" b="1" dirty="0"/>
              <a:t>AEM</a:t>
            </a:r>
            <a:endParaRPr lang="zh-TW" altLang="en-US" sz="1998" dirty="0"/>
          </a:p>
        </p:txBody>
      </p:sp>
      <p:sp>
        <p:nvSpPr>
          <p:cNvPr id="168" name="矩形 167"/>
          <p:cNvSpPr/>
          <p:nvPr/>
        </p:nvSpPr>
        <p:spPr>
          <a:xfrm>
            <a:off x="9231757" y="2705008"/>
            <a:ext cx="752947" cy="399373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TW" sz="1998" b="1" dirty="0"/>
              <a:t>CEM</a:t>
            </a:r>
            <a:endParaRPr lang="zh-TW" altLang="en-US" sz="1998" dirty="0"/>
          </a:p>
        </p:txBody>
      </p:sp>
      <p:sp>
        <p:nvSpPr>
          <p:cNvPr id="161" name="弧形 162"/>
          <p:cNvSpPr/>
          <p:nvPr/>
        </p:nvSpPr>
        <p:spPr>
          <a:xfrm rot="5400000" flipH="1">
            <a:off x="9336548" y="4871969"/>
            <a:ext cx="730760" cy="856635"/>
          </a:xfrm>
          <a:prstGeom prst="arc">
            <a:avLst>
              <a:gd name="adj1" fmla="val 6284609"/>
              <a:gd name="adj2" fmla="val 15592378"/>
            </a:avLst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sz="1798"/>
          </a:p>
        </p:txBody>
      </p:sp>
      <p:cxnSp>
        <p:nvCxnSpPr>
          <p:cNvPr id="7" name="Elbow Connector 6"/>
          <p:cNvCxnSpPr>
            <a:stCxn id="24" idx="0"/>
            <a:endCxn id="90" idx="3"/>
          </p:cNvCxnSpPr>
          <p:nvPr/>
        </p:nvCxnSpPr>
        <p:spPr>
          <a:xfrm rot="16200000" flipV="1">
            <a:off x="7073235" y="2986861"/>
            <a:ext cx="1004597" cy="2170809"/>
          </a:xfrm>
          <a:prstGeom prst="bentConnector2">
            <a:avLst/>
          </a:prstGeom>
          <a:ln w="28575">
            <a:solidFill>
              <a:schemeClr val="bg1">
                <a:lumMod val="50000"/>
              </a:schemeClr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矩形 3"/>
          <p:cNvSpPr/>
          <p:nvPr/>
        </p:nvSpPr>
        <p:spPr>
          <a:xfrm rot="16200000">
            <a:off x="2176581" y="3870347"/>
            <a:ext cx="244650" cy="1413906"/>
          </a:xfrm>
          <a:prstGeom prst="rect">
            <a:avLst/>
          </a:prstGeom>
          <a:solidFill>
            <a:schemeClr val="accent1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 sz="1798"/>
          </a:p>
        </p:txBody>
      </p:sp>
      <p:cxnSp>
        <p:nvCxnSpPr>
          <p:cNvPr id="37" name="Straight Arrow Connector 36"/>
          <p:cNvCxnSpPr/>
          <p:nvPr/>
        </p:nvCxnSpPr>
        <p:spPr>
          <a:xfrm flipH="1" flipV="1">
            <a:off x="2438777" y="4713360"/>
            <a:ext cx="84590" cy="251490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6" name="Straight Arrow Connector 165"/>
          <p:cNvCxnSpPr/>
          <p:nvPr/>
        </p:nvCxnSpPr>
        <p:spPr>
          <a:xfrm flipH="1">
            <a:off x="2471584" y="5240689"/>
            <a:ext cx="55125" cy="422383"/>
          </a:xfrm>
          <a:prstGeom prst="straightConnector1">
            <a:avLst/>
          </a:prstGeom>
          <a:ln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9" name="弧形 162"/>
          <p:cNvSpPr/>
          <p:nvPr/>
        </p:nvSpPr>
        <p:spPr>
          <a:xfrm rot="5400000" flipH="1">
            <a:off x="4797193" y="5125687"/>
            <a:ext cx="573779" cy="513415"/>
          </a:xfrm>
          <a:prstGeom prst="arc">
            <a:avLst>
              <a:gd name="adj1" fmla="val 10461368"/>
              <a:gd name="adj2" fmla="val 21311918"/>
            </a:avLst>
          </a:prstGeom>
          <a:ln w="28575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TW" altLang="en-US" sz="1798"/>
          </a:p>
        </p:txBody>
      </p:sp>
      <p:sp>
        <p:nvSpPr>
          <p:cNvPr id="42" name="Rounded Rectangle 41"/>
          <p:cNvSpPr/>
          <p:nvPr/>
        </p:nvSpPr>
        <p:spPr>
          <a:xfrm>
            <a:off x="9944129" y="4992116"/>
            <a:ext cx="776727" cy="401747"/>
          </a:xfrm>
          <a:prstGeom prst="round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345" tIns="45672" rIns="91345" bIns="4567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798"/>
          </a:p>
        </p:txBody>
      </p:sp>
      <p:sp>
        <p:nvSpPr>
          <p:cNvPr id="170" name="Rounded Rectangle 169"/>
          <p:cNvSpPr/>
          <p:nvPr/>
        </p:nvSpPr>
        <p:spPr>
          <a:xfrm>
            <a:off x="3291533" y="4911701"/>
            <a:ext cx="776727" cy="401747"/>
          </a:xfrm>
          <a:prstGeom prst="round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345" tIns="45672" rIns="91345" bIns="45672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798"/>
          </a:p>
        </p:txBody>
      </p:sp>
      <p:sp>
        <p:nvSpPr>
          <p:cNvPr id="43" name="TextBox 42"/>
          <p:cNvSpPr txBox="1"/>
          <p:nvPr/>
        </p:nvSpPr>
        <p:spPr>
          <a:xfrm>
            <a:off x="3269937" y="4640522"/>
            <a:ext cx="1864273" cy="30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99" dirty="0">
                <a:solidFill>
                  <a:schemeClr val="accent5"/>
                </a:solidFill>
              </a:rPr>
              <a:t>Monitored by UV 300</a:t>
            </a:r>
          </a:p>
        </p:txBody>
      </p:sp>
      <p:cxnSp>
        <p:nvCxnSpPr>
          <p:cNvPr id="64" name="Elbow Connector 63"/>
          <p:cNvCxnSpPr>
            <a:endCxn id="155" idx="3"/>
          </p:cNvCxnSpPr>
          <p:nvPr/>
        </p:nvCxnSpPr>
        <p:spPr>
          <a:xfrm rot="16200000" flipV="1">
            <a:off x="4188201" y="4214881"/>
            <a:ext cx="453054" cy="398230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1" name="TextBox 170"/>
          <p:cNvSpPr txBox="1"/>
          <p:nvPr/>
        </p:nvSpPr>
        <p:spPr>
          <a:xfrm>
            <a:off x="4215612" y="3926209"/>
            <a:ext cx="1327825" cy="30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99" dirty="0">
                <a:solidFill>
                  <a:schemeClr val="accent5"/>
                </a:solidFill>
              </a:rPr>
              <a:t>Controlled volt</a:t>
            </a:r>
          </a:p>
        </p:txBody>
      </p:sp>
      <p:sp>
        <p:nvSpPr>
          <p:cNvPr id="172" name="TextBox 171"/>
          <p:cNvSpPr txBox="1"/>
          <p:nvPr/>
        </p:nvSpPr>
        <p:spPr>
          <a:xfrm>
            <a:off x="10188776" y="5403166"/>
            <a:ext cx="1019831" cy="52296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99" dirty="0">
                <a:solidFill>
                  <a:schemeClr val="accent5"/>
                </a:solidFill>
              </a:rPr>
              <a:t>Monitored</a:t>
            </a:r>
          </a:p>
          <a:p>
            <a:r>
              <a:rPr lang="en-US" sz="1399" dirty="0">
                <a:solidFill>
                  <a:schemeClr val="accent5"/>
                </a:solidFill>
              </a:rPr>
              <a:t>by </a:t>
            </a:r>
            <a:r>
              <a:rPr lang="en-US" sz="1399" dirty="0" smtClean="0">
                <a:solidFill>
                  <a:schemeClr val="accent5"/>
                </a:solidFill>
              </a:rPr>
              <a:t>600</a:t>
            </a:r>
            <a:r>
              <a:rPr lang="zh-TW" altLang="en-US" sz="1399" dirty="0" smtClean="0">
                <a:solidFill>
                  <a:schemeClr val="accent5"/>
                </a:solidFill>
              </a:rPr>
              <a:t> </a:t>
            </a:r>
            <a:r>
              <a:rPr lang="en-US" altLang="zh-TW" sz="1399" dirty="0" smtClean="0">
                <a:solidFill>
                  <a:schemeClr val="accent5"/>
                </a:solidFill>
              </a:rPr>
              <a:t>nm</a:t>
            </a:r>
            <a:endParaRPr lang="en-US" sz="1399" dirty="0">
              <a:solidFill>
                <a:schemeClr val="accent5"/>
              </a:solidFill>
            </a:endParaRPr>
          </a:p>
        </p:txBody>
      </p:sp>
      <p:cxnSp>
        <p:nvCxnSpPr>
          <p:cNvPr id="66" name="Elbow Connector 65"/>
          <p:cNvCxnSpPr>
            <a:stCxn id="172" idx="2"/>
          </p:cNvCxnSpPr>
          <p:nvPr/>
        </p:nvCxnSpPr>
        <p:spPr>
          <a:xfrm rot="5400000">
            <a:off x="10192006" y="5637794"/>
            <a:ext cx="218351" cy="79502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3" name="TextBox 172"/>
          <p:cNvSpPr txBox="1"/>
          <p:nvPr/>
        </p:nvSpPr>
        <p:spPr>
          <a:xfrm>
            <a:off x="9838960" y="6132048"/>
            <a:ext cx="1327825" cy="30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399" dirty="0">
                <a:solidFill>
                  <a:schemeClr val="accent5"/>
                </a:solidFill>
              </a:rPr>
              <a:t>Controlled volt</a:t>
            </a:r>
          </a:p>
        </p:txBody>
      </p:sp>
    </p:spTree>
    <p:extLst>
      <p:ext uri="{BB962C8B-B14F-4D97-AF65-F5344CB8AC3E}">
        <p14:creationId xmlns:p14="http://schemas.microsoft.com/office/powerpoint/2010/main" val="2714907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9043</TotalTime>
  <Words>281</Words>
  <Application>Microsoft Office PowerPoint</Application>
  <PresentationFormat>Ledger 紙張 (11x17 英吋)</PresentationFormat>
  <Paragraphs>80</Paragraphs>
  <Slides>11</Slides>
  <Notes>1</Notes>
  <HiddenSlides>0</HiddenSlides>
  <MMClips>0</MMClips>
  <ScaleCrop>false</ScaleCrop>
  <HeadingPairs>
    <vt:vector size="6" baseType="variant">
      <vt:variant>
        <vt:lpstr>使用字型</vt:lpstr>
      </vt:variant>
      <vt:variant>
        <vt:i4>7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11</vt:i4>
      </vt:variant>
    </vt:vector>
  </HeadingPairs>
  <TitlesOfParts>
    <vt:vector size="19" baseType="lpstr">
      <vt:lpstr>新細明體</vt:lpstr>
      <vt:lpstr>Arial</vt:lpstr>
      <vt:lpstr>Calibri</vt:lpstr>
      <vt:lpstr>DejaVu Sans</vt:lpstr>
      <vt:lpstr>Symbol</vt:lpstr>
      <vt:lpstr>Times New Roman</vt:lpstr>
      <vt:lpstr>Wingdings</vt:lpstr>
      <vt:lpstr>Office Theme</vt:lpstr>
      <vt:lpstr>A self-replenishing and optically-regulated CO2 fixation system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>UCLA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subject/>
  <dc:creator>Luo Shanshan</dc:creator>
  <dc:description/>
  <cp:lastModifiedBy>Windows User</cp:lastModifiedBy>
  <cp:revision>653</cp:revision>
  <cp:lastPrinted>2020-05-21T03:35:14Z</cp:lastPrinted>
  <dcterms:created xsi:type="dcterms:W3CDTF">2016-11-16T23:09:40Z</dcterms:created>
  <dcterms:modified xsi:type="dcterms:W3CDTF">2020-07-20T00:42:14Z</dcterms:modified>
  <dc:language>zh-TW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UCLA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0</vt:i4>
  </property>
  <property fmtid="{D5CDD505-2E9C-101B-9397-08002B2CF9AE}" pid="9" name="PresentationFormat">
    <vt:lpwstr>Ledger Paper (11x17 in)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7</vt:i4>
  </property>
</Properties>
</file>